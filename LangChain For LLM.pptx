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7" r:id="rId4"/>
    <p:sldId id="266" r:id="rId5"/>
    <p:sldId id="258" r:id="rId6"/>
    <p:sldId id="259" r:id="rId7"/>
    <p:sldId id="260" r:id="rId8"/>
    <p:sldId id="261" r:id="rId9"/>
    <p:sldId id="262" r:id="rId10"/>
    <p:sldId id="263" r:id="rId11"/>
    <p:sldId id="426" r:id="rId12"/>
    <p:sldId id="264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95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6" r:id="rId37"/>
    <p:sldId id="291" r:id="rId38"/>
    <p:sldId id="292" r:id="rId39"/>
    <p:sldId id="293" r:id="rId40"/>
    <p:sldId id="294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6" r:id="rId67"/>
    <p:sldId id="327" r:id="rId68"/>
    <p:sldId id="328" r:id="rId69"/>
    <p:sldId id="329" r:id="rId70"/>
    <p:sldId id="330" r:id="rId71"/>
    <p:sldId id="331" r:id="rId72"/>
    <p:sldId id="332" r:id="rId73"/>
    <p:sldId id="333" r:id="rId74"/>
    <p:sldId id="334" r:id="rId75"/>
    <p:sldId id="335" r:id="rId76"/>
    <p:sldId id="336" r:id="rId77"/>
    <p:sldId id="337" r:id="rId78"/>
    <p:sldId id="338" r:id="rId79"/>
    <p:sldId id="339" r:id="rId80"/>
    <p:sldId id="341" r:id="rId81"/>
    <p:sldId id="342" r:id="rId82"/>
    <p:sldId id="343" r:id="rId83"/>
    <p:sldId id="344" r:id="rId84"/>
    <p:sldId id="345" r:id="rId85"/>
    <p:sldId id="346" r:id="rId86"/>
    <p:sldId id="347" r:id="rId87"/>
    <p:sldId id="348" r:id="rId88"/>
    <p:sldId id="349" r:id="rId89"/>
    <p:sldId id="350" r:id="rId90"/>
    <p:sldId id="351" r:id="rId91"/>
    <p:sldId id="352" r:id="rId92"/>
    <p:sldId id="353" r:id="rId93"/>
    <p:sldId id="354" r:id="rId94"/>
    <p:sldId id="355" r:id="rId95"/>
    <p:sldId id="356" r:id="rId96"/>
    <p:sldId id="357" r:id="rId97"/>
    <p:sldId id="358" r:id="rId98"/>
    <p:sldId id="340" r:id="rId99"/>
    <p:sldId id="359" r:id="rId100"/>
    <p:sldId id="360" r:id="rId101"/>
    <p:sldId id="361" r:id="rId102"/>
    <p:sldId id="362" r:id="rId103"/>
    <p:sldId id="363" r:id="rId104"/>
    <p:sldId id="364" r:id="rId105"/>
    <p:sldId id="365" r:id="rId106"/>
    <p:sldId id="366" r:id="rId107"/>
    <p:sldId id="367" r:id="rId108"/>
    <p:sldId id="368" r:id="rId109"/>
    <p:sldId id="369" r:id="rId110"/>
    <p:sldId id="370" r:id="rId111"/>
    <p:sldId id="371" r:id="rId112"/>
    <p:sldId id="372" r:id="rId113"/>
    <p:sldId id="373" r:id="rId114"/>
    <p:sldId id="374" r:id="rId115"/>
    <p:sldId id="375" r:id="rId116"/>
    <p:sldId id="376" r:id="rId117"/>
    <p:sldId id="377" r:id="rId118"/>
    <p:sldId id="378" r:id="rId119"/>
    <p:sldId id="379" r:id="rId120"/>
    <p:sldId id="380" r:id="rId121"/>
    <p:sldId id="381" r:id="rId122"/>
    <p:sldId id="382" r:id="rId123"/>
    <p:sldId id="383" r:id="rId124"/>
    <p:sldId id="384" r:id="rId125"/>
    <p:sldId id="385" r:id="rId126"/>
    <p:sldId id="386" r:id="rId127"/>
    <p:sldId id="387" r:id="rId128"/>
    <p:sldId id="388" r:id="rId129"/>
    <p:sldId id="389" r:id="rId130"/>
    <p:sldId id="390" r:id="rId131"/>
    <p:sldId id="391" r:id="rId132"/>
    <p:sldId id="392" r:id="rId133"/>
    <p:sldId id="393" r:id="rId134"/>
    <p:sldId id="394" r:id="rId135"/>
    <p:sldId id="395" r:id="rId136"/>
    <p:sldId id="396" r:id="rId137"/>
    <p:sldId id="397" r:id="rId138"/>
    <p:sldId id="398" r:id="rId139"/>
    <p:sldId id="399" r:id="rId140"/>
    <p:sldId id="400" r:id="rId141"/>
    <p:sldId id="401" r:id="rId142"/>
    <p:sldId id="402" r:id="rId143"/>
    <p:sldId id="403" r:id="rId144"/>
    <p:sldId id="404" r:id="rId145"/>
    <p:sldId id="405" r:id="rId146"/>
    <p:sldId id="406" r:id="rId147"/>
    <p:sldId id="407" r:id="rId148"/>
    <p:sldId id="408" r:id="rId149"/>
    <p:sldId id="409" r:id="rId150"/>
    <p:sldId id="410" r:id="rId151"/>
    <p:sldId id="411" r:id="rId152"/>
    <p:sldId id="412" r:id="rId153"/>
    <p:sldId id="413" r:id="rId154"/>
    <p:sldId id="414" r:id="rId155"/>
    <p:sldId id="415" r:id="rId156"/>
    <p:sldId id="416" r:id="rId157"/>
    <p:sldId id="417" r:id="rId158"/>
    <p:sldId id="418" r:id="rId159"/>
    <p:sldId id="419" r:id="rId160"/>
    <p:sldId id="420" r:id="rId161"/>
    <p:sldId id="421" r:id="rId162"/>
    <p:sldId id="422" r:id="rId163"/>
    <p:sldId id="423" r:id="rId164"/>
    <p:sldId id="424" r:id="rId165"/>
    <p:sldId id="425" r:id="rId166"/>
    <p:sldId id="313" r:id="rId167"/>
    <p:sldId id="314" r:id="rId168"/>
    <p:sldId id="315" r:id="rId16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slide" Target="slides/slide153.xml"/><Relationship Id="rId159" Type="http://schemas.openxmlformats.org/officeDocument/2006/relationships/slide" Target="slides/slide158.xml"/><Relationship Id="rId170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65" Type="http://schemas.openxmlformats.org/officeDocument/2006/relationships/slide" Target="slides/slide16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71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72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 smtClean="0"/>
              <a:t>LangChain</a:t>
            </a:r>
            <a:r>
              <a:rPr lang="en-US" b="1" dirty="0" smtClean="0"/>
              <a:t> For LLM 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Application Development</a:t>
            </a:r>
          </a:p>
        </p:txBody>
      </p:sp>
    </p:spTree>
    <p:extLst>
      <p:ext uri="{BB962C8B-B14F-4D97-AF65-F5344CB8AC3E}">
        <p14:creationId xmlns:p14="http://schemas.microsoft.com/office/powerpoint/2010/main" val="3784422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960" y="324400"/>
            <a:ext cx="8596668" cy="806131"/>
          </a:xfrm>
        </p:spPr>
        <p:txBody>
          <a:bodyPr/>
          <a:lstStyle/>
          <a:p>
            <a:r>
              <a:rPr lang="en-US" b="1" dirty="0"/>
              <a:t>Why This Course?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24" y="1379193"/>
            <a:ext cx="9713576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Large Language Models (LLMs) like GPT have made it possible to build AI applications much faster than before. </a:t>
            </a:r>
            <a:endParaRPr lang="en-US" sz="2400" dirty="0" smtClean="0"/>
          </a:p>
          <a:p>
            <a:pPr>
              <a:lnSpc>
                <a:spcPct val="150000"/>
              </a:lnSpc>
            </a:pPr>
            <a:r>
              <a:rPr lang="en-US" sz="2400" dirty="0" smtClean="0"/>
              <a:t>Earlier</a:t>
            </a:r>
            <a:r>
              <a:rPr lang="en-US" sz="2400" dirty="0"/>
              <a:t>, building intelligent systems required complex pipelines and heavy engineering. </a:t>
            </a:r>
            <a:endParaRPr lang="en-US" sz="2400" dirty="0" smtClean="0"/>
          </a:p>
          <a:p>
            <a:pPr>
              <a:lnSpc>
                <a:spcPct val="150000"/>
              </a:lnSpc>
            </a:pPr>
            <a:r>
              <a:rPr lang="en-US" sz="2400" dirty="0" smtClean="0"/>
              <a:t>Now</a:t>
            </a:r>
            <a:r>
              <a:rPr lang="en-US" sz="2400" dirty="0"/>
              <a:t>, with just </a:t>
            </a:r>
            <a:r>
              <a:rPr lang="en-US" sz="2400" b="1" dirty="0"/>
              <a:t>prompting</a:t>
            </a:r>
            <a:r>
              <a:rPr lang="en-US" sz="2400" dirty="0"/>
              <a:t>, we can achieve powerful results.</a:t>
            </a:r>
          </a:p>
        </p:txBody>
      </p:sp>
    </p:spTree>
    <p:extLst>
      <p:ext uri="{BB962C8B-B14F-4D97-AF65-F5344CB8AC3E}">
        <p14:creationId xmlns:p14="http://schemas.microsoft.com/office/powerpoint/2010/main" val="509053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61203" y="132284"/>
            <a:ext cx="9929706" cy="6529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However, real-world AI applications are not just a single prompt. They often require: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Multiple LLM calls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Output parsing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Decision-making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Connecting different components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ingestion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Tool usage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leads to a lot of glue code — repetitive logic that connects everything together.</a:t>
            </a:r>
          </a:p>
        </p:txBody>
      </p:sp>
    </p:spTree>
    <p:extLst>
      <p:ext uri="{BB962C8B-B14F-4D97-AF65-F5344CB8AC3E}">
        <p14:creationId xmlns:p14="http://schemas.microsoft.com/office/powerpoint/2010/main" val="94162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4062" y="3535065"/>
            <a:ext cx="8750839" cy="1646302"/>
          </a:xfrm>
        </p:spPr>
        <p:txBody>
          <a:bodyPr/>
          <a:lstStyle/>
          <a:p>
            <a:r>
              <a:rPr lang="en-US" b="1" dirty="0"/>
              <a:t>Problem</a:t>
            </a:r>
            <a:r>
              <a:rPr lang="en-US" b="1" dirty="0" smtClean="0"/>
              <a:t>:</a:t>
            </a:r>
            <a:br>
              <a:rPr lang="en-US" b="1" dirty="0" smtClean="0"/>
            </a:br>
            <a:r>
              <a:rPr lang="en-US" dirty="0" smtClean="0"/>
              <a:t>Building </a:t>
            </a:r>
            <a:r>
              <a:rPr lang="en-US" dirty="0"/>
              <a:t>full applications with LLMs becomes messy, repetitive, and hard to maintain.</a:t>
            </a:r>
          </a:p>
        </p:txBody>
      </p:sp>
    </p:spTree>
    <p:extLst>
      <p:ext uri="{BB962C8B-B14F-4D97-AF65-F5344CB8AC3E}">
        <p14:creationId xmlns:p14="http://schemas.microsoft.com/office/powerpoint/2010/main" val="2508103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What is </a:t>
            </a:r>
            <a:r>
              <a:rPr lang="en-US" b="1" dirty="0" err="1"/>
              <a:t>LangChain</a:t>
            </a:r>
            <a:r>
              <a:rPr lang="en-US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02305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825" y="343591"/>
            <a:ext cx="9613822" cy="1816997"/>
          </a:xfrm>
        </p:spPr>
        <p:txBody>
          <a:bodyPr>
            <a:normAutofit fontScale="90000"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LangChain</a:t>
            </a:r>
            <a:r>
              <a:rPr lang="en-US" dirty="0">
                <a:solidFill>
                  <a:schemeClr val="tx1"/>
                </a:solidFill>
              </a:rPr>
              <a:t> is an </a:t>
            </a:r>
            <a:r>
              <a:rPr lang="en-US" b="1" dirty="0">
                <a:solidFill>
                  <a:schemeClr val="tx1"/>
                </a:solidFill>
              </a:rPr>
              <a:t>open-source framework</a:t>
            </a:r>
            <a:r>
              <a:rPr lang="en-US" dirty="0">
                <a:solidFill>
                  <a:schemeClr val="tx1"/>
                </a:solidFill>
              </a:rPr>
              <a:t> created by </a:t>
            </a:r>
            <a:r>
              <a:rPr lang="en-US" b="1" dirty="0">
                <a:solidFill>
                  <a:schemeClr val="tx1"/>
                </a:solidFill>
              </a:rPr>
              <a:t>Harrison Chase</a:t>
            </a:r>
            <a:r>
              <a:rPr lang="en-US" dirty="0">
                <a:solidFill>
                  <a:schemeClr val="tx1"/>
                </a:solidFill>
              </a:rPr>
              <a:t> to make LLM application development easier.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25" y="2744470"/>
            <a:ext cx="9613822" cy="3880773"/>
          </a:xfrm>
        </p:spPr>
        <p:txBody>
          <a:bodyPr/>
          <a:lstStyle/>
          <a:p>
            <a:r>
              <a:rPr lang="en-US" sz="2400" dirty="0"/>
              <a:t>It provides:</a:t>
            </a:r>
          </a:p>
          <a:p>
            <a:r>
              <a:rPr lang="en-US" sz="2400" dirty="0"/>
              <a:t>Reusable components</a:t>
            </a:r>
          </a:p>
          <a:p>
            <a:r>
              <a:rPr lang="en-US" sz="2400" dirty="0"/>
              <a:t>Standard abstractions</a:t>
            </a:r>
          </a:p>
          <a:p>
            <a:r>
              <a:rPr lang="en-US" sz="2400" dirty="0"/>
              <a:t>Modular design</a:t>
            </a:r>
          </a:p>
          <a:p>
            <a:r>
              <a:rPr lang="en-US" sz="2400" dirty="0"/>
              <a:t>End-to-end workflows</a:t>
            </a:r>
          </a:p>
          <a:p>
            <a:r>
              <a:rPr lang="en-US" sz="2400" dirty="0"/>
              <a:t>Instead of writing everything from scratch, </a:t>
            </a:r>
            <a:r>
              <a:rPr lang="en-US" sz="2400" dirty="0" err="1"/>
              <a:t>LangChain</a:t>
            </a:r>
            <a:r>
              <a:rPr lang="en-US" sz="2400" dirty="0"/>
              <a:t> lets you </a:t>
            </a:r>
            <a:r>
              <a:rPr lang="en-US" sz="2400" b="1" dirty="0"/>
              <a:t>compose</a:t>
            </a:r>
            <a:r>
              <a:rPr lang="en-US" sz="2400" dirty="0"/>
              <a:t> applications from building blocks.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894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0090" y="144087"/>
            <a:ext cx="8596668" cy="1320800"/>
          </a:xfrm>
        </p:spPr>
        <p:txBody>
          <a:bodyPr/>
          <a:lstStyle/>
          <a:p>
            <a:r>
              <a:rPr lang="en-US" b="1" dirty="0"/>
              <a:t>Motivation Behind </a:t>
            </a:r>
            <a:r>
              <a:rPr lang="en-US" b="1" dirty="0" err="1"/>
              <a:t>LangChain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574" y="1312691"/>
            <a:ext cx="9514069" cy="503823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/>
              <a:t>LangChain</a:t>
            </a:r>
            <a:r>
              <a:rPr lang="en-US" sz="2400" dirty="0"/>
              <a:t> was born out of real developer pain points.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It was observed </a:t>
            </a:r>
            <a:r>
              <a:rPr lang="en-US" sz="2400" dirty="0"/>
              <a:t>that many developers were: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Building complex LLM-based applications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Repeating similar patterns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Solving the same problems again and again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So </a:t>
            </a:r>
            <a:r>
              <a:rPr lang="en-US" sz="2400" dirty="0" err="1"/>
              <a:t>LangChain</a:t>
            </a:r>
            <a:r>
              <a:rPr lang="en-US" sz="2400" dirty="0"/>
              <a:t> captures these </a:t>
            </a:r>
            <a:r>
              <a:rPr lang="en-US" sz="2400" b="1" dirty="0"/>
              <a:t>common patterns</a:t>
            </a:r>
            <a:r>
              <a:rPr lang="en-US" sz="2400" dirty="0"/>
              <a:t> as abstractions.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0670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960" y="759229"/>
            <a:ext cx="9314564" cy="1320800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en-US" b="1" dirty="0" smtClean="0">
                <a:solidFill>
                  <a:schemeClr val="tx1"/>
                </a:solidFill>
              </a:rPr>
              <a:t>Example:</a:t>
            </a:r>
            <a:br>
              <a:rPr lang="en-US" b="1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Instead </a:t>
            </a:r>
            <a:r>
              <a:rPr lang="en-US" dirty="0">
                <a:solidFill>
                  <a:schemeClr val="tx1"/>
                </a:solidFill>
              </a:rPr>
              <a:t>of everyone writing their own memory system, prompt templates, or chaining logic — </a:t>
            </a:r>
            <a:r>
              <a:rPr lang="en-US" dirty="0" err="1">
                <a:solidFill>
                  <a:schemeClr val="tx1"/>
                </a:solidFill>
              </a:rPr>
              <a:t>LangChain</a:t>
            </a:r>
            <a:r>
              <a:rPr lang="en-US" dirty="0">
                <a:solidFill>
                  <a:schemeClr val="tx1"/>
                </a:solidFill>
              </a:rPr>
              <a:t> standardizes these.</a:t>
            </a:r>
            <a:r>
              <a:rPr lang="en-US" b="1" dirty="0">
                <a:solidFill>
                  <a:schemeClr val="tx1"/>
                </a:solidFill>
              </a:rPr>
              <a:t/>
            </a:r>
            <a:br>
              <a:rPr lang="en-US" b="1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231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203" y="260466"/>
            <a:ext cx="9397692" cy="1320800"/>
          </a:xfrm>
        </p:spPr>
        <p:txBody>
          <a:bodyPr/>
          <a:lstStyle/>
          <a:p>
            <a:r>
              <a:rPr lang="en-US" b="1" dirty="0"/>
              <a:t>Community and Open-Source Momentum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203" y="1179687"/>
            <a:ext cx="9563946" cy="5437244"/>
          </a:xfrm>
        </p:spPr>
        <p:txBody>
          <a:bodyPr>
            <a:normAutofit lnSpcReduction="10000"/>
          </a:bodyPr>
          <a:lstStyle/>
          <a:p>
            <a:r>
              <a:rPr lang="en-US" sz="2600" dirty="0" err="1"/>
              <a:t>LangChain</a:t>
            </a:r>
            <a:r>
              <a:rPr lang="en-US" sz="2600" dirty="0"/>
              <a:t> is not just a library — it is a </a:t>
            </a:r>
            <a:r>
              <a:rPr lang="en-US" sz="2600" b="1" dirty="0"/>
              <a:t>community-driven open-source project</a:t>
            </a:r>
            <a:r>
              <a:rPr lang="en-US" sz="2600" dirty="0"/>
              <a:t>.</a:t>
            </a:r>
          </a:p>
          <a:p>
            <a:r>
              <a:rPr lang="en-US" sz="2600" b="1" dirty="0"/>
              <a:t>Key highlights:</a:t>
            </a:r>
          </a:p>
          <a:p>
            <a:r>
              <a:rPr lang="en-US" sz="2600" dirty="0"/>
              <a:t>Hundreds of contributors</a:t>
            </a:r>
          </a:p>
          <a:p>
            <a:r>
              <a:rPr lang="en-US" sz="2600" dirty="0"/>
              <a:t>Rapid feature development</a:t>
            </a:r>
          </a:p>
          <a:p>
            <a:r>
              <a:rPr lang="en-US" sz="2600" dirty="0"/>
              <a:t>Active community</a:t>
            </a:r>
          </a:p>
          <a:p>
            <a:r>
              <a:rPr lang="en-US" sz="2600" dirty="0"/>
              <a:t>Fast evolution</a:t>
            </a:r>
          </a:p>
          <a:p>
            <a:r>
              <a:rPr lang="en-US" sz="2600" b="1" dirty="0"/>
              <a:t>This means:</a:t>
            </a:r>
          </a:p>
          <a:p>
            <a:r>
              <a:rPr lang="en-US" sz="2600" dirty="0"/>
              <a:t>Bugs get fixed quickly</a:t>
            </a:r>
          </a:p>
          <a:p>
            <a:r>
              <a:rPr lang="en-US" sz="2600" dirty="0"/>
              <a:t>New features arrive frequently</a:t>
            </a:r>
          </a:p>
          <a:p>
            <a:r>
              <a:rPr lang="en-US" sz="2600" dirty="0"/>
              <a:t>Best practices evolve continuously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120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3465" y="141520"/>
            <a:ext cx="8596668" cy="1320800"/>
          </a:xfrm>
        </p:spPr>
        <p:txBody>
          <a:bodyPr/>
          <a:lstStyle/>
          <a:p>
            <a:r>
              <a:rPr lang="en-US" b="1" dirty="0"/>
              <a:t>Core Design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573" y="1129811"/>
            <a:ext cx="9713576" cy="5553622"/>
          </a:xfrm>
        </p:spPr>
        <p:txBody>
          <a:bodyPr>
            <a:normAutofit/>
          </a:bodyPr>
          <a:lstStyle/>
          <a:p>
            <a:r>
              <a:rPr lang="en-US" sz="2400" dirty="0" err="1"/>
              <a:t>LangChain</a:t>
            </a:r>
            <a:r>
              <a:rPr lang="en-US" sz="2400" dirty="0"/>
              <a:t> is built on two key ideas:</a:t>
            </a:r>
          </a:p>
          <a:p>
            <a:r>
              <a:rPr lang="en-US" sz="2400" b="1" dirty="0"/>
              <a:t>a) Modularity</a:t>
            </a:r>
          </a:p>
          <a:p>
            <a:r>
              <a:rPr lang="en-US" sz="2400" dirty="0"/>
              <a:t>Each piece can work independently:</a:t>
            </a:r>
          </a:p>
          <a:p>
            <a:r>
              <a:rPr lang="en-US" sz="2400" dirty="0"/>
              <a:t>Prompt templates</a:t>
            </a:r>
          </a:p>
          <a:p>
            <a:r>
              <a:rPr lang="en-US" sz="2400" dirty="0"/>
              <a:t>LLM wrappers</a:t>
            </a:r>
          </a:p>
          <a:p>
            <a:r>
              <a:rPr lang="en-US" sz="2400" dirty="0"/>
              <a:t>Memory</a:t>
            </a:r>
          </a:p>
          <a:p>
            <a:r>
              <a:rPr lang="en-US" sz="2400" dirty="0"/>
              <a:t>Tools</a:t>
            </a:r>
          </a:p>
          <a:p>
            <a:r>
              <a:rPr lang="en-US" sz="2400" dirty="0"/>
              <a:t>Indexes</a:t>
            </a:r>
          </a:p>
          <a:p>
            <a:r>
              <a:rPr lang="en-US" sz="2400" b="1" dirty="0"/>
              <a:t>b) Composability</a:t>
            </a:r>
          </a:p>
          <a:p>
            <a:r>
              <a:rPr lang="en-US" sz="2400" dirty="0"/>
              <a:t>You can combine these pieces to form complete applications.</a:t>
            </a:r>
          </a:p>
          <a:p>
            <a:r>
              <a:rPr lang="en-US" sz="2400" dirty="0"/>
              <a:t>Think of it like Lego blocks for AI applications.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380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You Will Learn in This Course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182" y="1520509"/>
            <a:ext cx="8596668" cy="466083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dirty="0" smtClean="0"/>
              <a:t>• </a:t>
            </a:r>
            <a:r>
              <a:rPr lang="en-US" sz="3200" dirty="0"/>
              <a:t>Models, Prompts &amp; </a:t>
            </a:r>
            <a:r>
              <a:rPr lang="en-US" sz="3200" dirty="0" smtClean="0"/>
              <a:t>Parsers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/>
              <a:t>• Memory </a:t>
            </a:r>
            <a:br>
              <a:rPr lang="en-US" sz="3200" dirty="0"/>
            </a:br>
            <a:r>
              <a:rPr lang="en-US" sz="3200" dirty="0"/>
              <a:t>• Chains </a:t>
            </a:r>
            <a:br>
              <a:rPr lang="en-US" sz="3200" dirty="0"/>
            </a:br>
            <a:r>
              <a:rPr lang="en-US" sz="3200" dirty="0"/>
              <a:t>• Question &amp; Answering </a:t>
            </a:r>
            <a:r>
              <a:rPr lang="en-US" sz="3200" dirty="0" smtClean="0"/>
              <a:t>Systems(Rag) 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/>
              <a:t>• Evaluation </a:t>
            </a:r>
            <a:br>
              <a:rPr lang="en-US" sz="3200" dirty="0"/>
            </a:br>
            <a:r>
              <a:rPr lang="en-US" sz="3200" dirty="0"/>
              <a:t>• Agents </a:t>
            </a:r>
            <a:br>
              <a:rPr lang="en-US" sz="3200" dirty="0"/>
            </a:br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723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894" y="235361"/>
            <a:ext cx="8596668" cy="2955895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Models: </a:t>
            </a:r>
            <a:r>
              <a:rPr lang="en-US" sz="2400" dirty="0" err="1" smtClean="0"/>
              <a:t>LangChain</a:t>
            </a:r>
            <a:r>
              <a:rPr lang="en-US" sz="2400" dirty="0" smtClean="0"/>
              <a:t> </a:t>
            </a:r>
            <a:r>
              <a:rPr lang="en-US" sz="2400" dirty="0"/>
              <a:t>provides a unified interface to interact with them</a:t>
            </a:r>
            <a:r>
              <a:rPr lang="en-US" sz="2400" dirty="0" smtClean="0"/>
              <a:t>.</a:t>
            </a:r>
            <a:endParaRPr lang="en-US" sz="2400" b="1" dirty="0"/>
          </a:p>
          <a:p>
            <a:r>
              <a:rPr lang="en-US" sz="2400" dirty="0"/>
              <a:t>These are the LLMs themselves:</a:t>
            </a:r>
          </a:p>
          <a:p>
            <a:r>
              <a:rPr lang="en-US" sz="2400" dirty="0" err="1" smtClean="0"/>
              <a:t>OpenAI</a:t>
            </a:r>
            <a:r>
              <a:rPr lang="en-US" sz="2400" dirty="0" smtClean="0"/>
              <a:t>, </a:t>
            </a:r>
            <a:r>
              <a:rPr lang="en-US" sz="2400" dirty="0" err="1" smtClean="0"/>
              <a:t>HuggingFace</a:t>
            </a:r>
            <a:r>
              <a:rPr lang="en-US" sz="2400" dirty="0" smtClean="0"/>
              <a:t>, Anthropic  </a:t>
            </a:r>
            <a:r>
              <a:rPr lang="en-US" sz="2400" dirty="0" smtClean="0"/>
              <a:t>etc.</a:t>
            </a:r>
          </a:p>
          <a:p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585894" y="2294466"/>
            <a:ext cx="1020402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/>
              <a:t>Prompts: </a:t>
            </a:r>
            <a:r>
              <a:rPr lang="en-US" sz="2400" dirty="0" smtClean="0"/>
              <a:t>Prompts </a:t>
            </a:r>
            <a:r>
              <a:rPr lang="en-US" sz="2400" dirty="0"/>
              <a:t>are how we instruct models to perform tasks.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err="1"/>
              <a:t>LangChain</a:t>
            </a:r>
            <a:r>
              <a:rPr lang="en-US" sz="2400" dirty="0"/>
              <a:t> helps </a:t>
            </a:r>
            <a:r>
              <a:rPr lang="en-US" sz="2400" dirty="0" smtClean="0"/>
              <a:t>with: Prompt templates, Dynamic prompts, Reusable prompts, Prompt versioning.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82013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075" y="198785"/>
            <a:ext cx="9331189" cy="6384895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Indexes </a:t>
            </a:r>
            <a:r>
              <a:rPr lang="en-US" sz="2400" b="1" dirty="0"/>
              <a:t>(Data + LLM)</a:t>
            </a:r>
          </a:p>
          <a:p>
            <a:r>
              <a:rPr lang="en-US" sz="2400" dirty="0"/>
              <a:t>Indexes allow LLMs to interact with </a:t>
            </a:r>
            <a:r>
              <a:rPr lang="en-US" sz="2400" b="1" dirty="0"/>
              <a:t>external data</a:t>
            </a:r>
            <a:r>
              <a:rPr lang="en-US" sz="2400" dirty="0"/>
              <a:t>.</a:t>
            </a:r>
          </a:p>
          <a:p>
            <a:r>
              <a:rPr lang="en-US" sz="2400" b="1" dirty="0"/>
              <a:t>Example:</a:t>
            </a:r>
          </a:p>
          <a:p>
            <a:r>
              <a:rPr lang="en-US" sz="2400" dirty="0"/>
              <a:t>PDFs</a:t>
            </a:r>
          </a:p>
          <a:p>
            <a:r>
              <a:rPr lang="en-US" sz="2400" dirty="0"/>
              <a:t>CSV files</a:t>
            </a:r>
          </a:p>
          <a:p>
            <a:r>
              <a:rPr lang="en-US" sz="2400" dirty="0"/>
              <a:t>Websites</a:t>
            </a:r>
          </a:p>
          <a:p>
            <a:r>
              <a:rPr lang="en-US" sz="2400" dirty="0"/>
              <a:t>Databases</a:t>
            </a:r>
          </a:p>
          <a:p>
            <a:r>
              <a:rPr lang="en-US" sz="2400" b="1" dirty="0"/>
              <a:t>This enables:</a:t>
            </a:r>
          </a:p>
          <a:p>
            <a:r>
              <a:rPr lang="en-US" sz="2400" dirty="0"/>
              <a:t>Question answering over documents</a:t>
            </a:r>
          </a:p>
          <a:p>
            <a:r>
              <a:rPr lang="en-US" sz="2400" dirty="0" err="1"/>
              <a:t>Chatbots</a:t>
            </a:r>
            <a:r>
              <a:rPr lang="en-US" sz="2400" dirty="0"/>
              <a:t> with memory</a:t>
            </a:r>
          </a:p>
          <a:p>
            <a:r>
              <a:rPr lang="en-US" sz="2400" dirty="0"/>
              <a:t>Knowledge-based systems</a:t>
            </a:r>
          </a:p>
        </p:txBody>
      </p:sp>
    </p:spTree>
    <p:extLst>
      <p:ext uri="{BB962C8B-B14F-4D97-AF65-F5344CB8AC3E}">
        <p14:creationId xmlns:p14="http://schemas.microsoft.com/office/powerpoint/2010/main" val="3424779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4949" y="0"/>
            <a:ext cx="8596668" cy="3880773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 </a:t>
            </a:r>
            <a:r>
              <a:rPr lang="en-US" sz="2400" b="1" dirty="0"/>
              <a:t>Chains</a:t>
            </a:r>
          </a:p>
          <a:p>
            <a:r>
              <a:rPr lang="en-US" sz="2400" dirty="0"/>
              <a:t>Chains are workflows.</a:t>
            </a:r>
          </a:p>
          <a:p>
            <a:r>
              <a:rPr lang="en-US" sz="2400" dirty="0"/>
              <a:t>Instead of:</a:t>
            </a:r>
            <a:br>
              <a:rPr lang="en-US" sz="2400" dirty="0"/>
            </a:br>
            <a:r>
              <a:rPr lang="en-US" sz="2400" dirty="0"/>
              <a:t>One prompt → One output</a:t>
            </a:r>
          </a:p>
          <a:p>
            <a:r>
              <a:rPr lang="en-US" sz="2400" dirty="0"/>
              <a:t>We can build:</a:t>
            </a:r>
            <a:br>
              <a:rPr lang="en-US" sz="2400" dirty="0"/>
            </a:br>
            <a:r>
              <a:rPr lang="en-US" sz="2400" dirty="0"/>
              <a:t>Prompt → LLM → Parser → Another Prompt → LLM → Final Answer</a:t>
            </a:r>
          </a:p>
          <a:p>
            <a:r>
              <a:rPr lang="en-US" sz="2400" dirty="0"/>
              <a:t>Chains represent </a:t>
            </a:r>
            <a:r>
              <a:rPr lang="en-US" sz="2400" b="1" dirty="0"/>
              <a:t>end-to-end pipelines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93807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080" y="315163"/>
            <a:ext cx="8632920" cy="6218641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Agents </a:t>
            </a:r>
            <a:r>
              <a:rPr lang="en-US" sz="2400" b="1" dirty="0"/>
              <a:t>(Advanced Concept)</a:t>
            </a:r>
          </a:p>
          <a:p>
            <a:r>
              <a:rPr lang="en-US" sz="2400" dirty="0"/>
              <a:t>Agents use LLMs as a </a:t>
            </a:r>
            <a:r>
              <a:rPr lang="en-US" sz="2400" b="1" dirty="0"/>
              <a:t>reasoning engine</a:t>
            </a:r>
            <a:r>
              <a:rPr lang="en-US" sz="2400" dirty="0"/>
              <a:t>.</a:t>
            </a:r>
          </a:p>
          <a:p>
            <a:r>
              <a:rPr lang="en-US" sz="2400" dirty="0"/>
              <a:t>They can:</a:t>
            </a:r>
          </a:p>
          <a:p>
            <a:r>
              <a:rPr lang="en-US" sz="2400" dirty="0"/>
              <a:t>Decide what action to take</a:t>
            </a:r>
          </a:p>
          <a:p>
            <a:r>
              <a:rPr lang="en-US" sz="2400" dirty="0"/>
              <a:t>Use tools</a:t>
            </a:r>
          </a:p>
          <a:p>
            <a:r>
              <a:rPr lang="en-US" sz="2400" dirty="0"/>
              <a:t>Call APIs</a:t>
            </a:r>
          </a:p>
          <a:p>
            <a:r>
              <a:rPr lang="en-US" sz="2400" dirty="0"/>
              <a:t>Search</a:t>
            </a:r>
          </a:p>
          <a:p>
            <a:r>
              <a:rPr lang="en-US" sz="2400" dirty="0"/>
              <a:t>Calculate</a:t>
            </a:r>
          </a:p>
          <a:p>
            <a:r>
              <a:rPr lang="en-US" sz="2400" dirty="0"/>
              <a:t>Iterate</a:t>
            </a:r>
          </a:p>
          <a:p>
            <a:r>
              <a:rPr lang="en-US" sz="2400" dirty="0"/>
              <a:t>This is where LLMs become more autonomous.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234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90672" y="1772767"/>
            <a:ext cx="9982623" cy="1646302"/>
          </a:xfrm>
        </p:spPr>
        <p:txBody>
          <a:bodyPr/>
          <a:lstStyle/>
          <a:p>
            <a:r>
              <a:rPr lang="en-US" dirty="0"/>
              <a:t>Models, Prompts, and Parsers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0" y="3745803"/>
            <a:ext cx="10291156" cy="1096899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Input → Prompt → Model → Output → Parser → Structured Data</a:t>
            </a:r>
          </a:p>
        </p:txBody>
      </p:sp>
    </p:spTree>
    <p:extLst>
      <p:ext uri="{BB962C8B-B14F-4D97-AF65-F5344CB8AC3E}">
        <p14:creationId xmlns:p14="http://schemas.microsoft.com/office/powerpoint/2010/main" val="1922943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959" y="543099"/>
            <a:ext cx="8596668" cy="1320800"/>
          </a:xfrm>
        </p:spPr>
        <p:txBody>
          <a:bodyPr/>
          <a:lstStyle/>
          <a:p>
            <a:r>
              <a:rPr lang="en-US" b="1" dirty="0"/>
              <a:t>In this lesson, we study three foundational concepts of </a:t>
            </a:r>
            <a:r>
              <a:rPr lang="en-US" b="1" dirty="0" err="1"/>
              <a:t>LangChain</a:t>
            </a:r>
            <a:r>
              <a:rPr lang="en-US" b="1" dirty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322" y="2193840"/>
            <a:ext cx="10578099" cy="3880773"/>
          </a:xfrm>
        </p:spPr>
        <p:txBody>
          <a:bodyPr>
            <a:normAutofit/>
          </a:bodyPr>
          <a:lstStyle/>
          <a:p>
            <a:r>
              <a:rPr lang="en-US" sz="2400" b="1" dirty="0"/>
              <a:t>Models</a:t>
            </a:r>
            <a:r>
              <a:rPr lang="en-US" sz="2400" dirty="0"/>
              <a:t> – The LLMs that power the application</a:t>
            </a:r>
          </a:p>
          <a:p>
            <a:r>
              <a:rPr lang="en-US" sz="2400" b="1" dirty="0"/>
              <a:t>Prompts</a:t>
            </a:r>
            <a:r>
              <a:rPr lang="en-US" sz="2400" dirty="0"/>
              <a:t> – How we structure inputs to the models</a:t>
            </a:r>
          </a:p>
          <a:p>
            <a:r>
              <a:rPr lang="en-US" sz="2400" b="1" dirty="0"/>
              <a:t>Parsers</a:t>
            </a:r>
            <a:r>
              <a:rPr lang="en-US" sz="2400" dirty="0"/>
              <a:t> – How we convert raw model outputs into structured data</a:t>
            </a:r>
          </a:p>
          <a:p>
            <a:r>
              <a:rPr lang="en-US" sz="2400" dirty="0"/>
              <a:t>These three together form the basic pipeline:</a:t>
            </a:r>
          </a:p>
          <a:p>
            <a:r>
              <a:rPr lang="en-US" sz="2400" b="1" dirty="0"/>
              <a:t>Input → Prompt → Model → Output → Parser → Structured Data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15586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</a:t>
            </a:r>
            <a:r>
              <a:rPr lang="en-US" b="1" dirty="0" err="1"/>
              <a:t>LangChain</a:t>
            </a:r>
            <a:r>
              <a:rPr lang="en-US" b="1" dirty="0"/>
              <a:t> Abstractions Are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When building real LLM-based applications, we often:</a:t>
            </a:r>
          </a:p>
          <a:p>
            <a:r>
              <a:rPr lang="en-US" sz="2400" dirty="0"/>
              <a:t>Reuse the same model many times</a:t>
            </a:r>
          </a:p>
          <a:p>
            <a:r>
              <a:rPr lang="en-US" sz="2400" dirty="0"/>
              <a:t>Use similar prompts repeatedly</a:t>
            </a:r>
          </a:p>
          <a:p>
            <a:r>
              <a:rPr lang="en-US" sz="2400" dirty="0"/>
              <a:t>Need to parse outputs consistently</a:t>
            </a:r>
          </a:p>
          <a:p>
            <a:r>
              <a:rPr lang="en-US" sz="2400" dirty="0"/>
              <a:t>Pass outputs to downstream logic</a:t>
            </a:r>
          </a:p>
          <a:p>
            <a:r>
              <a:rPr lang="en-US" sz="2400" dirty="0" err="1"/>
              <a:t>LangChain</a:t>
            </a:r>
            <a:r>
              <a:rPr lang="en-US" sz="2400" dirty="0"/>
              <a:t> provides </a:t>
            </a:r>
            <a:r>
              <a:rPr lang="en-US" sz="2400" b="1" dirty="0"/>
              <a:t>clean abstractions</a:t>
            </a:r>
            <a:r>
              <a:rPr lang="en-US" sz="2400" dirty="0"/>
              <a:t> to make this easy and reusable.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56441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Models in </a:t>
            </a:r>
            <a:r>
              <a:rPr lang="en-US" b="1" dirty="0" err="1"/>
              <a:t>LangChain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62072"/>
            <a:ext cx="8596668" cy="3880773"/>
          </a:xfrm>
        </p:spPr>
        <p:txBody>
          <a:bodyPr/>
          <a:lstStyle/>
          <a:p>
            <a:r>
              <a:rPr lang="en-US" sz="2400" b="1" dirty="0"/>
              <a:t>What is a Model?</a:t>
            </a:r>
          </a:p>
          <a:p>
            <a:r>
              <a:rPr lang="en-US" sz="2400" dirty="0"/>
              <a:t>A model is the LLM itself:</a:t>
            </a:r>
          </a:p>
          <a:p>
            <a:r>
              <a:rPr lang="en-US" sz="2400" dirty="0"/>
              <a:t>GPT-3.5</a:t>
            </a:r>
          </a:p>
          <a:p>
            <a:r>
              <a:rPr lang="en-US" sz="2400" dirty="0"/>
              <a:t>GPT-4</a:t>
            </a:r>
          </a:p>
          <a:p>
            <a:r>
              <a:rPr lang="en-US" sz="2400" dirty="0"/>
              <a:t>Claude</a:t>
            </a:r>
          </a:p>
          <a:p>
            <a:r>
              <a:rPr lang="en-US" sz="2400" dirty="0"/>
              <a:t>Hugging Face models,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440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11080" y="598793"/>
            <a:ext cx="9813327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Way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Normally, you directly call the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OpenAI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using Python code.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steps: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OpenAI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API key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# Create </a:t>
            </a:r>
            <a:r>
              <a:rPr lang="en-US" altLang="en-US" sz="2400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OpenAI</a:t>
            </a:r>
            <a:endParaRPr lang="en-US" altLang="en-US" sz="24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clientclient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=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OpenAI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api_key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=OPENAI_API_KEY)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Call </a:t>
            </a:r>
            <a:r>
              <a:rPr lang="en-US" altLang="en-US" sz="2400" dirty="0" err="1">
                <a:solidFill>
                  <a:schemeClr val="tx1"/>
                </a:solidFill>
                <a:latin typeface="Arial Unicode MS" panose="020B0604020202020204" pitchFamily="34" charset="-128"/>
              </a:rPr>
              <a:t>client.responses.create</a:t>
            </a:r>
            <a:r>
              <a:rPr lang="en-US" altLang="en-US" sz="2400" dirty="0">
                <a:solidFill>
                  <a:schemeClr val="tx1"/>
                </a:solidFill>
                <a:latin typeface="Arial Unicode MS" panose="020B0604020202020204" pitchFamily="34" charset="-128"/>
              </a:rPr>
              <a:t> (...)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Parse response manually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729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1327" y="307084"/>
            <a:ext cx="6096000" cy="113249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err="1"/>
              <a:t>LangChain</a:t>
            </a:r>
            <a:r>
              <a:rPr lang="en-US" sz="2400" b="1" dirty="0"/>
              <a:t> Way</a:t>
            </a:r>
          </a:p>
          <a:p>
            <a:pPr>
              <a:lnSpc>
                <a:spcPct val="150000"/>
              </a:lnSpc>
            </a:pPr>
            <a:r>
              <a:rPr lang="en-US" sz="2400" dirty="0" err="1"/>
              <a:t>LangChain</a:t>
            </a:r>
            <a:r>
              <a:rPr lang="en-US" sz="2400" dirty="0"/>
              <a:t> provides a wrapper: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0861" y="1781293"/>
            <a:ext cx="60564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from </a:t>
            </a:r>
            <a:r>
              <a:rPr lang="en-US" sz="2400" dirty="0" err="1"/>
              <a:t>langchain_openai</a:t>
            </a:r>
            <a:r>
              <a:rPr lang="en-US" sz="2400" dirty="0"/>
              <a:t> import </a:t>
            </a:r>
            <a:r>
              <a:rPr lang="en-US" sz="2400" dirty="0" err="1"/>
              <a:t>ChatOpenAI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145320" y="2321004"/>
            <a:ext cx="79832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chat = </a:t>
            </a:r>
            <a:r>
              <a:rPr lang="en-US" sz="2400" b="1" dirty="0" err="1"/>
              <a:t>ChatOpenAI</a:t>
            </a:r>
            <a:r>
              <a:rPr lang="en-US" sz="2400" b="1" dirty="0"/>
              <a:t>(</a:t>
            </a:r>
            <a:r>
              <a:rPr lang="en-US" sz="2400" b="1" dirty="0" err="1"/>
              <a:t>openai_api_key</a:t>
            </a:r>
            <a:r>
              <a:rPr lang="en-US" sz="2400" b="1" dirty="0"/>
              <a:t>=OPENAI_API_KEY)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327" y="3124388"/>
            <a:ext cx="894880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# To control the randomness and creativity of the </a:t>
            </a:r>
            <a:r>
              <a:rPr lang="en-US" sz="2400" dirty="0" smtClean="0"/>
              <a:t>generated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# </a:t>
            </a:r>
            <a:r>
              <a:rPr lang="en-US" sz="2400" dirty="0"/>
              <a:t>text by an LLM, use temperature = </a:t>
            </a:r>
            <a:r>
              <a:rPr lang="en-US" sz="2400" dirty="0" smtClean="0"/>
              <a:t>0.0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chat </a:t>
            </a:r>
            <a:r>
              <a:rPr lang="en-US" sz="2400" dirty="0"/>
              <a:t>= </a:t>
            </a:r>
            <a:r>
              <a:rPr lang="en-US" sz="2400" dirty="0" err="1"/>
              <a:t>ChatOpenAI</a:t>
            </a:r>
            <a:r>
              <a:rPr lang="en-US" sz="2400" dirty="0"/>
              <a:t>( </a:t>
            </a:r>
            <a:r>
              <a:rPr lang="en-US" sz="2400" dirty="0" smtClean="0"/>
              <a:t>temperature=0.0,model</a:t>
            </a:r>
            <a:r>
              <a:rPr lang="en-US" sz="2400" dirty="0"/>
              <a:t>="gpt-3.5-turbo",    </a:t>
            </a:r>
            <a:r>
              <a:rPr lang="en-US" sz="2400" dirty="0" err="1"/>
              <a:t>request_timeout</a:t>
            </a:r>
            <a:r>
              <a:rPr lang="en-US" sz="2400" dirty="0"/>
              <a:t>=30, </a:t>
            </a:r>
            <a:r>
              <a:rPr lang="en-US" sz="2400" dirty="0" err="1" smtClean="0"/>
              <a:t>openai_api_key</a:t>
            </a:r>
            <a:r>
              <a:rPr lang="en-US" sz="2400" dirty="0" smtClean="0"/>
              <a:t>=OPENAI_API_KEY  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# </a:t>
            </a:r>
            <a:r>
              <a:rPr lang="en-US" sz="2400" dirty="0"/>
              <a:t>Replace with your actual API key)</a:t>
            </a:r>
          </a:p>
        </p:txBody>
      </p:sp>
    </p:spTree>
    <p:extLst>
      <p:ext uri="{BB962C8B-B14F-4D97-AF65-F5344CB8AC3E}">
        <p14:creationId xmlns:p14="http://schemas.microsoft.com/office/powerpoint/2010/main" val="2562540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323" y="0"/>
            <a:ext cx="8596668" cy="1320800"/>
          </a:xfrm>
        </p:spPr>
        <p:txBody>
          <a:bodyPr/>
          <a:lstStyle/>
          <a:p>
            <a:r>
              <a:rPr lang="en-US" b="1" dirty="0"/>
              <a:t>What is a Prompt?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945" y="1146436"/>
            <a:ext cx="9497444" cy="5711564"/>
          </a:xfrm>
        </p:spPr>
        <p:txBody>
          <a:bodyPr>
            <a:normAutofit/>
          </a:bodyPr>
          <a:lstStyle/>
          <a:p>
            <a:r>
              <a:rPr lang="en-US" sz="2600" dirty="0"/>
              <a:t>A prompt is how we instruct the model</a:t>
            </a:r>
            <a:r>
              <a:rPr lang="en-US" sz="2600" dirty="0" smtClean="0"/>
              <a:t>.</a:t>
            </a:r>
          </a:p>
          <a:p>
            <a:r>
              <a:rPr lang="en-US" sz="2600" dirty="0"/>
              <a:t>Problem With Simple </a:t>
            </a:r>
            <a:r>
              <a:rPr lang="en-US" sz="2600" dirty="0" smtClean="0"/>
              <a:t>Prompts</a:t>
            </a:r>
          </a:p>
          <a:p>
            <a:r>
              <a:rPr lang="en-US" sz="2600" dirty="0"/>
              <a:t>Using f-strings</a:t>
            </a:r>
            <a:r>
              <a:rPr lang="en-US" sz="2600" dirty="0" smtClean="0"/>
              <a:t>:</a:t>
            </a:r>
          </a:p>
          <a:p>
            <a:r>
              <a:rPr lang="en-US" sz="2600" dirty="0"/>
              <a:t>prompt = </a:t>
            </a:r>
            <a:r>
              <a:rPr lang="en-US" sz="2600" dirty="0" err="1"/>
              <a:t>f"Translate</a:t>
            </a:r>
            <a:r>
              <a:rPr lang="en-US" sz="2600" dirty="0"/>
              <a:t> {text} into {style}"</a:t>
            </a:r>
          </a:p>
          <a:p>
            <a:r>
              <a:rPr lang="en-US" sz="2600" b="1" dirty="0" smtClean="0"/>
              <a:t>Issues</a:t>
            </a:r>
            <a:r>
              <a:rPr lang="en-US" sz="2600" b="1" dirty="0"/>
              <a:t>:</a:t>
            </a:r>
          </a:p>
          <a:p>
            <a:r>
              <a:rPr lang="en-US" sz="2600" dirty="0"/>
              <a:t>Hard to reuse</a:t>
            </a:r>
          </a:p>
          <a:p>
            <a:r>
              <a:rPr lang="en-US" sz="2600" dirty="0"/>
              <a:t>Hard to maintain</a:t>
            </a:r>
          </a:p>
          <a:p>
            <a:r>
              <a:rPr lang="en-US" sz="2600" dirty="0"/>
              <a:t>Hard to version</a:t>
            </a:r>
          </a:p>
          <a:p>
            <a:r>
              <a:rPr lang="en-US" sz="2600" dirty="0"/>
              <a:t>Hard to debug</a:t>
            </a:r>
          </a:p>
          <a:p>
            <a:r>
              <a:rPr lang="en-US" sz="2600" dirty="0"/>
              <a:t>Long prompts become messy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88516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20" y="293717"/>
            <a:ext cx="9530695" cy="1320800"/>
          </a:xfrm>
        </p:spPr>
        <p:txBody>
          <a:bodyPr/>
          <a:lstStyle/>
          <a:p>
            <a:r>
              <a:rPr lang="en-US" b="1" dirty="0"/>
              <a:t>Prompt Templates (</a:t>
            </a:r>
            <a:r>
              <a:rPr lang="en-US" b="1" dirty="0" err="1"/>
              <a:t>LangChain</a:t>
            </a:r>
            <a:r>
              <a:rPr lang="en-US" b="1" dirty="0"/>
              <a:t> Solution)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320" y="1212938"/>
            <a:ext cx="8596668" cy="5254364"/>
          </a:xfrm>
        </p:spPr>
        <p:txBody>
          <a:bodyPr>
            <a:normAutofit/>
          </a:bodyPr>
          <a:lstStyle/>
          <a:p>
            <a:r>
              <a:rPr lang="en-US" sz="2400" dirty="0" err="1"/>
              <a:t>LangChain</a:t>
            </a:r>
            <a:r>
              <a:rPr lang="en-US" sz="2400" dirty="0"/>
              <a:t> introduces </a:t>
            </a:r>
            <a:r>
              <a:rPr lang="en-US" sz="2400" b="1" dirty="0"/>
              <a:t>Prompt Templates</a:t>
            </a:r>
            <a:r>
              <a:rPr lang="en-US" sz="2400" dirty="0"/>
              <a:t>.</a:t>
            </a:r>
          </a:p>
          <a:p>
            <a:r>
              <a:rPr lang="en-US" sz="2400" dirty="0"/>
              <a:t>They allow:</a:t>
            </a:r>
          </a:p>
          <a:p>
            <a:r>
              <a:rPr lang="en-US" sz="2400" dirty="0"/>
              <a:t>Reusability</a:t>
            </a:r>
          </a:p>
          <a:p>
            <a:r>
              <a:rPr lang="en-US" sz="2400" dirty="0"/>
              <a:t>Variable injection</a:t>
            </a:r>
          </a:p>
          <a:p>
            <a:r>
              <a:rPr lang="en-US" sz="2400" dirty="0"/>
              <a:t>Cleaner structure</a:t>
            </a:r>
          </a:p>
          <a:p>
            <a:r>
              <a:rPr lang="en-US" sz="2400" dirty="0"/>
              <a:t>Version control</a:t>
            </a:r>
          </a:p>
          <a:p>
            <a:r>
              <a:rPr lang="en-US" sz="2400" dirty="0"/>
              <a:t>Sharing</a:t>
            </a:r>
          </a:p>
          <a:p>
            <a:r>
              <a:rPr lang="en-US" sz="2400" dirty="0"/>
              <a:t>Example </a:t>
            </a:r>
            <a:r>
              <a:rPr lang="en-US" sz="2400" dirty="0" smtClean="0"/>
              <a:t>Template</a:t>
            </a:r>
          </a:p>
          <a:p>
            <a:r>
              <a:rPr lang="en-US" sz="2400" dirty="0"/>
              <a:t>Translate the text delimited by triple </a:t>
            </a:r>
            <a:r>
              <a:rPr lang="en-US" sz="2400" dirty="0" err="1"/>
              <a:t>backticks</a:t>
            </a:r>
            <a:r>
              <a:rPr lang="en-US" sz="2400" dirty="0"/>
              <a:t> into style {style</a:t>
            </a:r>
            <a:r>
              <a:rPr lang="en-US" sz="2400" dirty="0" smtClean="0"/>
              <a:t>}. Text</a:t>
            </a:r>
            <a:r>
              <a:rPr lang="en-US" sz="2400" dirty="0"/>
              <a:t>: ```{text}```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581546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49629" y="547920"/>
            <a:ext cx="10956173" cy="388077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Creating a Prompt </a:t>
            </a:r>
            <a:r>
              <a:rPr lang="en-US" sz="2400" dirty="0" smtClean="0">
                <a:solidFill>
                  <a:schemeClr val="tx1"/>
                </a:solidFill>
              </a:rPr>
              <a:t>Template</a:t>
            </a:r>
          </a:p>
          <a:p>
            <a:r>
              <a:rPr lang="en-US" sz="2400" dirty="0">
                <a:solidFill>
                  <a:schemeClr val="tx1"/>
                </a:solidFill>
              </a:rPr>
              <a:t>from </a:t>
            </a:r>
            <a:r>
              <a:rPr lang="en-US" sz="2400" dirty="0" err="1">
                <a:solidFill>
                  <a:schemeClr val="tx1"/>
                </a:solidFill>
              </a:rPr>
              <a:t>langchain_core.prompts</a:t>
            </a:r>
            <a:r>
              <a:rPr lang="en-US" sz="2400" dirty="0">
                <a:solidFill>
                  <a:schemeClr val="tx1"/>
                </a:solidFill>
              </a:rPr>
              <a:t> import </a:t>
            </a:r>
            <a:r>
              <a:rPr lang="en-US" sz="2400" dirty="0" err="1" smtClean="0">
                <a:solidFill>
                  <a:schemeClr val="tx1"/>
                </a:solidFill>
              </a:rPr>
              <a:t>ChatPromptTemplate</a:t>
            </a:r>
            <a:endParaRPr lang="en-US" sz="2400" dirty="0" smtClean="0">
              <a:solidFill>
                <a:schemeClr val="tx1"/>
              </a:solidFill>
            </a:endParaRPr>
          </a:p>
          <a:p>
            <a:r>
              <a:rPr lang="en-US" sz="2400" dirty="0" err="1" smtClean="0">
                <a:solidFill>
                  <a:schemeClr val="tx1"/>
                </a:solidFill>
              </a:rPr>
              <a:t>prompt_template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= </a:t>
            </a:r>
            <a:r>
              <a:rPr lang="en-US" sz="2400" dirty="0" err="1" smtClean="0">
                <a:solidFill>
                  <a:schemeClr val="tx1"/>
                </a:solidFill>
              </a:rPr>
              <a:t>ChatPromptTemplate.from_template</a:t>
            </a:r>
            <a:r>
              <a:rPr lang="en-US" sz="2400" dirty="0" smtClean="0">
                <a:solidFill>
                  <a:schemeClr val="tx1"/>
                </a:solidFill>
              </a:rPr>
              <a:t>(</a:t>
            </a:r>
            <a:r>
              <a:rPr lang="en-US" sz="2400" dirty="0" err="1" smtClean="0">
                <a:solidFill>
                  <a:schemeClr val="tx1"/>
                </a:solidFill>
              </a:rPr>
              <a:t>template_string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</a:p>
          <a:p>
            <a:r>
              <a:rPr lang="en-US" sz="2400" dirty="0" err="1" smtClean="0">
                <a:solidFill>
                  <a:schemeClr val="tx1"/>
                </a:solidFill>
              </a:rPr>
              <a:t>LangChain</a:t>
            </a:r>
            <a:r>
              <a:rPr lang="en-US" sz="2400" dirty="0" smtClean="0">
                <a:solidFill>
                  <a:schemeClr val="tx1"/>
                </a:solidFill>
              </a:rPr>
              <a:t> automatically detects variables: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{style}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{text}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76470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7704" y="191396"/>
            <a:ext cx="8596668" cy="1320800"/>
          </a:xfrm>
        </p:spPr>
        <p:txBody>
          <a:bodyPr/>
          <a:lstStyle/>
          <a:p>
            <a:r>
              <a:rPr lang="en-US" b="1" dirty="0"/>
              <a:t>Why This Is Powerful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704" y="1179687"/>
            <a:ext cx="8746297" cy="5171237"/>
          </a:xfrm>
        </p:spPr>
        <p:txBody>
          <a:bodyPr>
            <a:normAutofit/>
          </a:bodyPr>
          <a:lstStyle/>
          <a:p>
            <a:r>
              <a:rPr lang="en-US" sz="2400" dirty="0"/>
              <a:t>You can reuse the same template for:</a:t>
            </a:r>
          </a:p>
          <a:p>
            <a:r>
              <a:rPr lang="en-US" sz="2400" dirty="0"/>
              <a:t>French</a:t>
            </a:r>
          </a:p>
          <a:p>
            <a:r>
              <a:rPr lang="en-US" sz="2400" dirty="0"/>
              <a:t>German</a:t>
            </a:r>
          </a:p>
          <a:p>
            <a:r>
              <a:rPr lang="en-US" sz="2400" dirty="0"/>
              <a:t>Japanese</a:t>
            </a:r>
          </a:p>
          <a:p>
            <a:r>
              <a:rPr lang="en-US" sz="2400" dirty="0"/>
              <a:t>Pirate English</a:t>
            </a:r>
          </a:p>
          <a:p>
            <a:r>
              <a:rPr lang="en-US" sz="2400" dirty="0"/>
              <a:t>Polite tone</a:t>
            </a:r>
          </a:p>
          <a:p>
            <a:r>
              <a:rPr lang="en-US" sz="2400" dirty="0"/>
              <a:t>Angry tone</a:t>
            </a:r>
          </a:p>
          <a:p>
            <a:r>
              <a:rPr lang="en-US" sz="2400" dirty="0"/>
              <a:t>Formal tone</a:t>
            </a:r>
          </a:p>
          <a:p>
            <a:r>
              <a:rPr lang="en-US" sz="2400" dirty="0"/>
              <a:t>Just change variables!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937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Prompt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90"/>
            <a:ext cx="8596668" cy="732240"/>
          </a:xfrm>
        </p:spPr>
        <p:txBody>
          <a:bodyPr>
            <a:normAutofit/>
          </a:bodyPr>
          <a:lstStyle/>
          <a:p>
            <a:r>
              <a:rPr lang="en-US" sz="2400" dirty="0"/>
              <a:t>You fill in the variables:</a:t>
            </a:r>
          </a:p>
        </p:txBody>
      </p:sp>
      <p:sp>
        <p:nvSpPr>
          <p:cNvPr id="4" name="Rectangle 3"/>
          <p:cNvSpPr/>
          <p:nvPr/>
        </p:nvSpPr>
        <p:spPr>
          <a:xfrm>
            <a:off x="133004" y="2892830"/>
            <a:ext cx="121864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messages = </a:t>
            </a:r>
            <a:r>
              <a:rPr lang="en-US" sz="2400" dirty="0" err="1"/>
              <a:t>prompt_template.format_messages</a:t>
            </a:r>
            <a:r>
              <a:rPr lang="en-US" sz="2400" dirty="0"/>
              <a:t> </a:t>
            </a:r>
            <a:r>
              <a:rPr lang="en-US" sz="2400" dirty="0" smtClean="0"/>
              <a:t>( </a:t>
            </a:r>
            <a:r>
              <a:rPr lang="en-US" sz="2400" dirty="0"/>
              <a:t>style="Polite American English",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</a:t>
            </a:r>
            <a:r>
              <a:rPr lang="en-US" sz="2400" dirty="0" smtClean="0"/>
              <a:t>text=</a:t>
            </a:r>
            <a:r>
              <a:rPr lang="en-US" sz="2400" dirty="0" err="1" smtClean="0"/>
              <a:t>customer_email</a:t>
            </a:r>
            <a:r>
              <a:rPr lang="en-US" sz="2400" dirty="0" smtClean="0"/>
              <a:t>)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446690" y="4686257"/>
            <a:ext cx="41248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Then pass it to the model:</a:t>
            </a:r>
          </a:p>
        </p:txBody>
      </p:sp>
      <p:sp>
        <p:nvSpPr>
          <p:cNvPr id="6" name="Rectangle 5"/>
          <p:cNvSpPr/>
          <p:nvPr/>
        </p:nvSpPr>
        <p:spPr>
          <a:xfrm>
            <a:off x="870136" y="5556354"/>
            <a:ext cx="67698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/>
              <a:t>response </a:t>
            </a:r>
            <a:r>
              <a:rPr lang="en-US" sz="2400" b="1" dirty="0"/>
              <a:t>= </a:t>
            </a:r>
            <a:r>
              <a:rPr lang="en-US" sz="2400" b="1" dirty="0" err="1"/>
              <a:t>chat.invoke</a:t>
            </a:r>
            <a:r>
              <a:rPr lang="en-US" sz="2400" b="1" dirty="0"/>
              <a:t>(</a:t>
            </a:r>
            <a:r>
              <a:rPr lang="en-US" sz="2400" b="1" dirty="0" err="1"/>
              <a:t>customer_messages</a:t>
            </a:r>
            <a:r>
              <a:rPr lang="en-US" sz="2400" b="1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7485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Use Case: 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203" y="1462320"/>
            <a:ext cx="8596668" cy="3880773"/>
          </a:xfrm>
        </p:spPr>
        <p:txBody>
          <a:bodyPr>
            <a:noAutofit/>
          </a:bodyPr>
          <a:lstStyle/>
          <a:p>
            <a:r>
              <a:rPr lang="en-US" sz="2400" b="1" dirty="0"/>
              <a:t>Scenario</a:t>
            </a:r>
          </a:p>
          <a:p>
            <a:r>
              <a:rPr lang="en-US" sz="2400" dirty="0"/>
              <a:t>Customers send messages in different styles/languages:</a:t>
            </a:r>
          </a:p>
          <a:p>
            <a:r>
              <a:rPr lang="en-US" sz="2400" dirty="0"/>
              <a:t>French</a:t>
            </a:r>
          </a:p>
          <a:p>
            <a:r>
              <a:rPr lang="en-US" sz="2400" dirty="0"/>
              <a:t>German</a:t>
            </a:r>
          </a:p>
          <a:p>
            <a:r>
              <a:rPr lang="en-US" sz="2400" dirty="0"/>
              <a:t>Pirate English </a:t>
            </a:r>
          </a:p>
          <a:p>
            <a:r>
              <a:rPr lang="en-US" sz="2400" dirty="0"/>
              <a:t>You want:</a:t>
            </a:r>
          </a:p>
          <a:p>
            <a:r>
              <a:rPr lang="en-US" sz="2400" dirty="0"/>
              <a:t>Consistent tone</a:t>
            </a:r>
          </a:p>
          <a:p>
            <a:r>
              <a:rPr lang="en-US" sz="2400" dirty="0"/>
              <a:t>Polite responses</a:t>
            </a:r>
          </a:p>
          <a:p>
            <a:r>
              <a:rPr lang="en-US" sz="2400" dirty="0"/>
              <a:t>Automatic translation</a:t>
            </a:r>
          </a:p>
          <a:p>
            <a:r>
              <a:rPr lang="en-US" sz="2400" dirty="0" err="1"/>
              <a:t>LangChain</a:t>
            </a:r>
            <a:r>
              <a:rPr lang="en-US" sz="2400" dirty="0"/>
              <a:t> makes this easy using prompt templates.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444583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Prompt Templates Are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080" y="1562072"/>
            <a:ext cx="8762922" cy="4905230"/>
          </a:xfrm>
        </p:spPr>
        <p:txBody>
          <a:bodyPr>
            <a:normAutofit/>
          </a:bodyPr>
          <a:lstStyle/>
          <a:p>
            <a:r>
              <a:rPr lang="en-US" sz="2400" dirty="0"/>
              <a:t>In real apps:</a:t>
            </a:r>
          </a:p>
          <a:p>
            <a:r>
              <a:rPr lang="en-US" sz="2400" dirty="0"/>
              <a:t>Prompts can be </a:t>
            </a:r>
            <a:r>
              <a:rPr lang="en-US" sz="2400" b="1" dirty="0"/>
              <a:t>very long</a:t>
            </a:r>
            <a:endParaRPr lang="en-US" sz="2400" dirty="0"/>
          </a:p>
          <a:p>
            <a:r>
              <a:rPr lang="en-US" sz="2400" dirty="0"/>
              <a:t>Prompts may include:</a:t>
            </a:r>
          </a:p>
          <a:p>
            <a:pPr lvl="1"/>
            <a:r>
              <a:rPr lang="en-US" sz="2400" dirty="0"/>
              <a:t>Instructions</a:t>
            </a:r>
          </a:p>
          <a:p>
            <a:pPr lvl="1"/>
            <a:r>
              <a:rPr lang="en-US" sz="2400" dirty="0"/>
              <a:t>Output format rules</a:t>
            </a:r>
          </a:p>
          <a:p>
            <a:pPr lvl="1"/>
            <a:r>
              <a:rPr lang="en-US" sz="2400" dirty="0"/>
              <a:t>Step-by-step reasoning</a:t>
            </a:r>
          </a:p>
          <a:p>
            <a:pPr lvl="1"/>
            <a:r>
              <a:rPr lang="en-US" sz="2400" dirty="0"/>
              <a:t>Constraints</a:t>
            </a:r>
          </a:p>
          <a:p>
            <a:r>
              <a:rPr lang="en-US" sz="2400" dirty="0" err="1"/>
              <a:t>LangChain</a:t>
            </a:r>
            <a:r>
              <a:rPr lang="en-US" sz="2400" dirty="0"/>
              <a:t> helps manage these large prompts cleanly.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0756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Prompts in </a:t>
            </a:r>
            <a:r>
              <a:rPr lang="en-US" dirty="0" err="1"/>
              <a:t>LangChain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704" y="1478945"/>
            <a:ext cx="8746297" cy="4805477"/>
          </a:xfrm>
        </p:spPr>
        <p:txBody>
          <a:bodyPr>
            <a:normAutofit/>
          </a:bodyPr>
          <a:lstStyle/>
          <a:p>
            <a:r>
              <a:rPr lang="en-US" sz="2400" dirty="0" err="1"/>
              <a:t>LangChain</a:t>
            </a:r>
            <a:r>
              <a:rPr lang="en-US" sz="2400" dirty="0"/>
              <a:t> also provides </a:t>
            </a:r>
            <a:r>
              <a:rPr lang="en-US" sz="2400" b="1" dirty="0"/>
              <a:t>pre-built prompts</a:t>
            </a:r>
            <a:r>
              <a:rPr lang="en-US" sz="2400" dirty="0"/>
              <a:t> for:</a:t>
            </a:r>
          </a:p>
          <a:p>
            <a:r>
              <a:rPr lang="en-US" sz="2400" dirty="0"/>
              <a:t>Summarization</a:t>
            </a:r>
          </a:p>
          <a:p>
            <a:r>
              <a:rPr lang="en-US" sz="2400" dirty="0"/>
              <a:t>Question Answering</a:t>
            </a:r>
          </a:p>
          <a:p>
            <a:r>
              <a:rPr lang="en-US" sz="2400" dirty="0"/>
              <a:t>SQL querying</a:t>
            </a:r>
          </a:p>
          <a:p>
            <a:r>
              <a:rPr lang="en-US" sz="2400" dirty="0"/>
              <a:t>API calling</a:t>
            </a:r>
          </a:p>
          <a:p>
            <a:r>
              <a:rPr lang="en-US" sz="2400" dirty="0"/>
              <a:t>Grading</a:t>
            </a:r>
          </a:p>
          <a:p>
            <a:r>
              <a:rPr lang="en-US" sz="2400" dirty="0"/>
              <a:t>Reasoning</a:t>
            </a:r>
          </a:p>
          <a:p>
            <a:r>
              <a:rPr lang="en-US" sz="2400" dirty="0"/>
              <a:t>This saves a lot of engineering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4069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Output Parsing: 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LLMs return </a:t>
            </a:r>
            <a:r>
              <a:rPr lang="en-US" sz="2400" b="1" dirty="0"/>
              <a:t>text</a:t>
            </a:r>
            <a:r>
              <a:rPr lang="en-US" sz="2400" dirty="0"/>
              <a:t>, not structured data.</a:t>
            </a:r>
          </a:p>
          <a:p>
            <a:r>
              <a:rPr lang="en-US" sz="2400" dirty="0"/>
              <a:t>Even if the output </a:t>
            </a:r>
            <a:r>
              <a:rPr lang="en-US" sz="2400" i="1" dirty="0"/>
              <a:t>looks</a:t>
            </a:r>
            <a:r>
              <a:rPr lang="en-US" sz="2400" dirty="0"/>
              <a:t> like JSON, it is still: A </a:t>
            </a:r>
            <a:r>
              <a:rPr lang="en-US" sz="2400" dirty="0" smtClean="0"/>
              <a:t>string</a:t>
            </a:r>
          </a:p>
          <a:p>
            <a:r>
              <a:rPr lang="en-US" sz="2400" dirty="0"/>
              <a:t>But for applications, we need</a:t>
            </a:r>
            <a:r>
              <a:rPr lang="en-US" sz="2400" dirty="0" smtClean="0"/>
              <a:t>:</a:t>
            </a:r>
          </a:p>
          <a:p>
            <a:r>
              <a:rPr lang="en-US" sz="2400" dirty="0"/>
              <a:t>Python dictionaries</a:t>
            </a:r>
          </a:p>
          <a:p>
            <a:r>
              <a:rPr lang="en-US" sz="2400" dirty="0"/>
              <a:t>JSON objects</a:t>
            </a:r>
          </a:p>
          <a:p>
            <a:r>
              <a:rPr lang="en-US" sz="2400" dirty="0"/>
              <a:t>Typed values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331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an Output Parser?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An output parser converts:</a:t>
            </a:r>
          </a:p>
          <a:p>
            <a:r>
              <a:rPr lang="en-US" sz="2400" b="1" dirty="0"/>
              <a:t>LLM text output → Structured </a:t>
            </a:r>
            <a:r>
              <a:rPr lang="en-US" sz="2400" b="1" dirty="0" smtClean="0"/>
              <a:t>format</a:t>
            </a:r>
          </a:p>
          <a:p>
            <a:r>
              <a:rPr lang="en-US" sz="2400" dirty="0" smtClean="0"/>
              <a:t>Text: "{ </a:t>
            </a:r>
            <a:r>
              <a:rPr lang="en-US" sz="2400" dirty="0"/>
              <a:t>'gift': true, '</a:t>
            </a:r>
            <a:r>
              <a:rPr lang="en-US" sz="2400" dirty="0" err="1"/>
              <a:t>delivery_days</a:t>
            </a:r>
            <a:r>
              <a:rPr lang="en-US" sz="2400" dirty="0"/>
              <a:t>': 2 </a:t>
            </a:r>
            <a:r>
              <a:rPr lang="en-US" sz="2400" dirty="0" smtClean="0"/>
              <a:t>}“</a:t>
            </a:r>
          </a:p>
          <a:p>
            <a:r>
              <a:rPr lang="en-US" sz="2400" dirty="0" smtClean="0"/>
              <a:t>Into :</a:t>
            </a:r>
            <a:r>
              <a:rPr lang="en-US" sz="2400" dirty="0" smtClean="0">
                <a:sym typeface="Wingdings" panose="05000000000000000000" pitchFamily="2" charset="2"/>
              </a:rPr>
              <a:t> </a:t>
            </a:r>
            <a:r>
              <a:rPr lang="en-US" sz="2400" dirty="0">
                <a:sym typeface="Wingdings" panose="05000000000000000000" pitchFamily="2" charset="2"/>
              </a:rPr>
              <a:t>{'gift': True, '</a:t>
            </a:r>
            <a:r>
              <a:rPr lang="en-US" sz="2400" dirty="0" err="1">
                <a:sym typeface="Wingdings" panose="05000000000000000000" pitchFamily="2" charset="2"/>
              </a:rPr>
              <a:t>delivery_days</a:t>
            </a:r>
            <a:r>
              <a:rPr lang="en-US" sz="2400" dirty="0">
                <a:sym typeface="Wingdings" panose="05000000000000000000" pitchFamily="2" charset="2"/>
              </a:rPr>
              <a:t>': 2}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70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Extracting Data from a Product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/>
              <a:t>Input</a:t>
            </a:r>
          </a:p>
          <a:p>
            <a:r>
              <a:rPr lang="en-US" sz="2400" dirty="0"/>
              <a:t>Customer review text.</a:t>
            </a:r>
          </a:p>
          <a:p>
            <a:r>
              <a:rPr lang="en-US" sz="2400" b="1" dirty="0"/>
              <a:t>Desired </a:t>
            </a:r>
            <a:r>
              <a:rPr lang="en-US" sz="2400" b="1" dirty="0" smtClean="0"/>
              <a:t>Output</a:t>
            </a:r>
          </a:p>
          <a:p>
            <a:r>
              <a:rPr lang="en-US" sz="2400" b="1" dirty="0"/>
              <a:t>{</a:t>
            </a:r>
          </a:p>
          <a:p>
            <a:pPr marL="0" indent="0">
              <a:buNone/>
            </a:pPr>
            <a:r>
              <a:rPr lang="en-US" sz="2400" b="1" dirty="0"/>
              <a:t>  "gift": true,</a:t>
            </a:r>
          </a:p>
          <a:p>
            <a:pPr marL="0" indent="0">
              <a:buNone/>
            </a:pPr>
            <a:r>
              <a:rPr lang="en-US" sz="2400" b="1" dirty="0" smtClean="0"/>
              <a:t> </a:t>
            </a:r>
            <a:r>
              <a:rPr lang="en-US" sz="2400" b="1" dirty="0"/>
              <a:t>"</a:t>
            </a:r>
            <a:r>
              <a:rPr lang="en-US" sz="2400" b="1" dirty="0" err="1"/>
              <a:t>delivery_days</a:t>
            </a:r>
            <a:r>
              <a:rPr lang="en-US" sz="2400" b="1" dirty="0"/>
              <a:t>": 2,</a:t>
            </a:r>
          </a:p>
          <a:p>
            <a:pPr marL="0" indent="0">
              <a:buNone/>
            </a:pPr>
            <a:r>
              <a:rPr lang="en-US" sz="2400" b="1" dirty="0"/>
              <a:t>  "</a:t>
            </a:r>
            <a:r>
              <a:rPr lang="en-US" sz="2400" b="1" dirty="0" err="1"/>
              <a:t>price_value</a:t>
            </a:r>
            <a:r>
              <a:rPr lang="en-US" sz="2400" b="1" dirty="0"/>
              <a:t>": "affordable"</a:t>
            </a:r>
          </a:p>
          <a:p>
            <a:pPr marL="0" indent="0">
              <a:buNone/>
            </a:pPr>
            <a:r>
              <a:rPr lang="en-US" sz="2400" b="1" dirty="0"/>
              <a:t>}</a:t>
            </a:r>
          </a:p>
          <a:p>
            <a:endParaRPr lang="en-US" sz="24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4304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Problem Without Parsers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95076"/>
            <a:ext cx="8596668" cy="388077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The model returns:</a:t>
            </a:r>
          </a:p>
          <a:p>
            <a:r>
              <a:rPr lang="en-US" sz="2400" dirty="0"/>
              <a:t>"{ 'gift': true, '</a:t>
            </a:r>
            <a:r>
              <a:rPr lang="en-US" sz="2400" dirty="0" err="1"/>
              <a:t>delivery_days</a:t>
            </a:r>
            <a:r>
              <a:rPr lang="en-US" sz="2400" dirty="0"/>
              <a:t>': 2 }"</a:t>
            </a:r>
          </a:p>
          <a:p>
            <a:r>
              <a:rPr lang="en-US" sz="2400" dirty="0"/>
              <a:t>But this is still a </a:t>
            </a:r>
            <a:r>
              <a:rPr lang="en-US" sz="2400" b="1" dirty="0"/>
              <a:t>string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You cannot do</a:t>
            </a:r>
            <a:r>
              <a:rPr lang="en-US" sz="2400" dirty="0" smtClean="0"/>
              <a:t>:</a:t>
            </a:r>
          </a:p>
          <a:p>
            <a:r>
              <a:rPr lang="en-US" sz="2400" dirty="0"/>
              <a:t>response["gift"]  ❌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968633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LangChain</a:t>
            </a:r>
            <a:r>
              <a:rPr lang="en-US" b="1" dirty="0"/>
              <a:t> Output Parsers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9929706" cy="3880773"/>
          </a:xfrm>
        </p:spPr>
        <p:txBody>
          <a:bodyPr>
            <a:normAutofit/>
          </a:bodyPr>
          <a:lstStyle/>
          <a:p>
            <a:r>
              <a:rPr lang="en-US" sz="2400" dirty="0" err="1"/>
              <a:t>LangChain</a:t>
            </a:r>
            <a:r>
              <a:rPr lang="en-US" sz="2400" dirty="0"/>
              <a:t> provides</a:t>
            </a:r>
            <a:r>
              <a:rPr lang="en-US" sz="2400" dirty="0" smtClean="0"/>
              <a:t>:</a:t>
            </a:r>
          </a:p>
          <a:p>
            <a:r>
              <a:rPr lang="en-US" sz="2400" dirty="0"/>
              <a:t>from </a:t>
            </a:r>
            <a:r>
              <a:rPr lang="en-US" sz="2400" dirty="0" err="1"/>
              <a:t>langchain_core.output_parsers</a:t>
            </a:r>
            <a:r>
              <a:rPr lang="en-US" sz="2400" dirty="0"/>
              <a:t> import  </a:t>
            </a:r>
            <a:r>
              <a:rPr lang="en-US" sz="2400" dirty="0" err="1" smtClean="0"/>
              <a:t>JsonOutputParser</a:t>
            </a:r>
            <a:endParaRPr lang="en-US" sz="2400" dirty="0" smtClean="0"/>
          </a:p>
          <a:p>
            <a:r>
              <a:rPr lang="en-US" sz="2400" dirty="0" smtClean="0"/>
              <a:t>from </a:t>
            </a:r>
            <a:r>
              <a:rPr lang="en-US" sz="2400" dirty="0" err="1"/>
              <a:t>pydantic</a:t>
            </a:r>
            <a:r>
              <a:rPr lang="en-US" sz="2400" dirty="0"/>
              <a:t> import </a:t>
            </a:r>
            <a:r>
              <a:rPr lang="en-US" sz="2400" dirty="0" err="1"/>
              <a:t>BaseModel</a:t>
            </a:r>
            <a:r>
              <a:rPr lang="en-US" sz="2400" dirty="0"/>
              <a:t>, </a:t>
            </a:r>
            <a:r>
              <a:rPr lang="en-US" sz="2400" dirty="0" smtClean="0"/>
              <a:t>Field</a:t>
            </a:r>
          </a:p>
          <a:p>
            <a:r>
              <a:rPr lang="en-US" sz="2400" dirty="0" smtClean="0"/>
              <a:t>from </a:t>
            </a:r>
            <a:r>
              <a:rPr lang="en-US" sz="2400" dirty="0"/>
              <a:t>typing import List</a:t>
            </a:r>
          </a:p>
        </p:txBody>
      </p:sp>
    </p:spTree>
    <p:extLst>
      <p:ext uri="{BB962C8B-B14F-4D97-AF65-F5344CB8AC3E}">
        <p14:creationId xmlns:p14="http://schemas.microsoft.com/office/powerpoint/2010/main" val="28103662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255" y="0"/>
            <a:ext cx="10124901" cy="1320800"/>
          </a:xfrm>
        </p:spPr>
        <p:txBody>
          <a:bodyPr/>
          <a:lstStyle/>
          <a:p>
            <a:r>
              <a:rPr lang="en-US" b="1" dirty="0"/>
              <a:t>Define the structured schema with </a:t>
            </a:r>
            <a:r>
              <a:rPr lang="en-US" b="1" dirty="0" err="1"/>
              <a:t>Pydantic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3680"/>
            <a:ext cx="10461721" cy="557024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class </a:t>
            </a:r>
            <a:r>
              <a:rPr lang="en-US" sz="2400" dirty="0" err="1"/>
              <a:t>ReviewExtraction</a:t>
            </a:r>
            <a:r>
              <a:rPr lang="en-US" sz="2400" dirty="0"/>
              <a:t>(</a:t>
            </a:r>
            <a:r>
              <a:rPr lang="en-US" sz="2400" dirty="0" err="1"/>
              <a:t>BaseModel</a:t>
            </a:r>
            <a:r>
              <a:rPr lang="en-US" sz="2400" dirty="0"/>
              <a:t>):    </a:t>
            </a:r>
            <a:endParaRPr lang="en-US" sz="2400" dirty="0" smtClean="0"/>
          </a:p>
          <a:p>
            <a:r>
              <a:rPr lang="en-US" sz="2400" dirty="0" smtClean="0"/>
              <a:t>gift</a:t>
            </a:r>
            <a:r>
              <a:rPr lang="en-US" sz="2400" dirty="0"/>
              <a:t>: bool = Field(...,description="Was the item purchased\                             as a gift for someone else? \                             Answer True if yes,\                             False if not or unknown.")   </a:t>
            </a:r>
            <a:endParaRPr lang="en-US" sz="2400" dirty="0" smtClean="0"/>
          </a:p>
          <a:p>
            <a:r>
              <a:rPr lang="en-US" sz="2400" dirty="0" smtClean="0"/>
              <a:t> </a:t>
            </a:r>
            <a:r>
              <a:rPr lang="en-US" sz="2400" dirty="0" err="1"/>
              <a:t>delivery_days</a:t>
            </a:r>
            <a:r>
              <a:rPr lang="en-US" sz="2400" dirty="0"/>
              <a:t>: </a:t>
            </a:r>
            <a:r>
              <a:rPr lang="en-US" sz="2400" dirty="0" err="1"/>
              <a:t>int</a:t>
            </a:r>
            <a:r>
              <a:rPr lang="en-US" sz="2400" dirty="0"/>
              <a:t> = Field(...,description="How many days\                                      did it take for the product\                                      to arrive? If this \                                      information is not found,\                                      output -1.") </a:t>
            </a:r>
            <a:endParaRPr lang="en-US" sz="2400" dirty="0" smtClean="0"/>
          </a:p>
          <a:p>
            <a:r>
              <a:rPr lang="en-US" sz="2400" dirty="0" smtClean="0"/>
              <a:t> </a:t>
            </a:r>
            <a:r>
              <a:rPr lang="en-US" sz="2400" dirty="0" err="1"/>
              <a:t>price_value</a:t>
            </a:r>
            <a:r>
              <a:rPr lang="en-US" sz="2400" dirty="0"/>
              <a:t>: List[</a:t>
            </a:r>
            <a:r>
              <a:rPr lang="en-US" sz="2400" dirty="0" err="1"/>
              <a:t>str</a:t>
            </a:r>
            <a:r>
              <a:rPr lang="en-US" sz="2400" dirty="0"/>
              <a:t>] = Field(default= ...,description="Extract any\                                    sentences about the value or \                                    price, and output them as a \                                    comma separated Python list.")</a:t>
            </a:r>
          </a:p>
        </p:txBody>
      </p:sp>
    </p:spTree>
    <p:extLst>
      <p:ext uri="{BB962C8B-B14F-4D97-AF65-F5344CB8AC3E}">
        <p14:creationId xmlns:p14="http://schemas.microsoft.com/office/powerpoint/2010/main" val="42776470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9258" y="2160589"/>
            <a:ext cx="11305309" cy="3880773"/>
          </a:xfrm>
        </p:spPr>
        <p:txBody>
          <a:bodyPr>
            <a:normAutofit/>
          </a:bodyPr>
          <a:lstStyle/>
          <a:p>
            <a:r>
              <a:rPr lang="en-US" sz="2400" dirty="0"/>
              <a:t># Create the parser and format </a:t>
            </a:r>
            <a:r>
              <a:rPr lang="en-US" sz="2400" dirty="0" smtClean="0"/>
              <a:t>instructions</a:t>
            </a:r>
          </a:p>
          <a:p>
            <a:endParaRPr lang="en-US" sz="2400" dirty="0" smtClean="0"/>
          </a:p>
          <a:p>
            <a:r>
              <a:rPr lang="en-US" sz="2400" dirty="0" err="1" smtClean="0"/>
              <a:t>output_parser</a:t>
            </a:r>
            <a:r>
              <a:rPr lang="en-US" sz="2400" dirty="0" smtClean="0"/>
              <a:t> = </a:t>
            </a:r>
            <a:r>
              <a:rPr lang="en-US" sz="2400" dirty="0" err="1" smtClean="0"/>
              <a:t>JsonOutputParser</a:t>
            </a:r>
            <a:r>
              <a:rPr lang="en-US" sz="2400" dirty="0" smtClean="0"/>
              <a:t>(</a:t>
            </a:r>
            <a:r>
              <a:rPr lang="en-US" sz="2400" dirty="0" err="1" smtClean="0"/>
              <a:t>pydantic_object</a:t>
            </a:r>
            <a:r>
              <a:rPr lang="en-US" sz="2400" dirty="0" smtClean="0"/>
              <a:t>=</a:t>
            </a:r>
            <a:r>
              <a:rPr lang="en-US" sz="2400" dirty="0" err="1" smtClean="0"/>
              <a:t>ReviewExtraction</a:t>
            </a:r>
            <a:r>
              <a:rPr lang="en-US" sz="2400" dirty="0" smtClean="0"/>
              <a:t>)</a:t>
            </a:r>
            <a:r>
              <a:rPr lang="en-US" sz="2400" dirty="0" err="1" smtClean="0"/>
              <a:t>output_parser</a:t>
            </a:r>
            <a:r>
              <a:rPr lang="en-US" sz="2400" dirty="0" smtClean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375323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Parser-Driven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820" y="1628574"/>
            <a:ext cx="9780077" cy="3880773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LangChain</a:t>
            </a:r>
            <a:r>
              <a:rPr lang="en-US" sz="2400" b="1" dirty="0"/>
              <a:t> can generate formatting instructions</a:t>
            </a:r>
            <a:r>
              <a:rPr lang="en-US" sz="2400" b="1" dirty="0" smtClean="0"/>
              <a:t>:</a:t>
            </a:r>
          </a:p>
          <a:p>
            <a:r>
              <a:rPr lang="en-US" sz="2400" b="1" dirty="0" err="1"/>
              <a:t>format_instructions</a:t>
            </a:r>
            <a:r>
              <a:rPr lang="en-US" sz="2400" b="1" dirty="0"/>
              <a:t> = </a:t>
            </a:r>
            <a:r>
              <a:rPr lang="en-US" sz="2400" b="1" dirty="0" err="1"/>
              <a:t>output_parser.get_format_instructions</a:t>
            </a:r>
            <a:r>
              <a:rPr lang="en-US" sz="2400" b="1" dirty="0" smtClean="0"/>
              <a:t>()</a:t>
            </a:r>
          </a:p>
          <a:p>
            <a:r>
              <a:rPr lang="en-US" sz="2400" dirty="0"/>
              <a:t>This tells the LLM exactly how to format its output.</a:t>
            </a:r>
            <a:endParaRPr lang="en-US" sz="2400" b="1" dirty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132852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Parsing the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/>
              <a:t>Once the model responds</a:t>
            </a:r>
            <a:r>
              <a:rPr lang="en-US" sz="2400" dirty="0" smtClean="0"/>
              <a:t>:</a:t>
            </a:r>
          </a:p>
          <a:p>
            <a:r>
              <a:rPr lang="en-US" sz="2400" dirty="0" err="1"/>
              <a:t>parsed_output</a:t>
            </a:r>
            <a:r>
              <a:rPr lang="en-US" sz="2400" dirty="0"/>
              <a:t> = </a:t>
            </a:r>
            <a:r>
              <a:rPr lang="en-US" sz="2400" dirty="0" err="1"/>
              <a:t>output_parser.parse</a:t>
            </a:r>
            <a:r>
              <a:rPr lang="en-US" sz="2400" dirty="0"/>
              <a:t>(</a:t>
            </a:r>
            <a:r>
              <a:rPr lang="en-US" sz="2400" dirty="0" err="1"/>
              <a:t>response.content</a:t>
            </a:r>
            <a:r>
              <a:rPr lang="en-US" sz="2400" dirty="0"/>
              <a:t>)</a:t>
            </a:r>
          </a:p>
          <a:p>
            <a:r>
              <a:rPr lang="en-US" sz="2400" dirty="0" smtClean="0"/>
              <a:t>Now you get:</a:t>
            </a:r>
          </a:p>
          <a:p>
            <a:r>
              <a:rPr lang="en-US" sz="2400" dirty="0"/>
              <a:t>{</a:t>
            </a:r>
          </a:p>
          <a:p>
            <a:pPr marL="0" indent="0">
              <a:buNone/>
            </a:pPr>
            <a:r>
              <a:rPr lang="en-US" sz="2400" dirty="0" smtClean="0"/>
              <a:t> </a:t>
            </a:r>
            <a:r>
              <a:rPr lang="en-US" sz="2400" dirty="0"/>
              <a:t>'gift': True,</a:t>
            </a:r>
          </a:p>
          <a:p>
            <a:pPr marL="0" indent="0">
              <a:buNone/>
            </a:pPr>
            <a:r>
              <a:rPr lang="en-US" sz="2400" dirty="0" smtClean="0"/>
              <a:t> </a:t>
            </a:r>
            <a:r>
              <a:rPr lang="en-US" sz="2400" dirty="0"/>
              <a:t>'</a:t>
            </a:r>
            <a:r>
              <a:rPr lang="en-US" sz="2400" dirty="0" err="1"/>
              <a:t>delivery_days</a:t>
            </a:r>
            <a:r>
              <a:rPr lang="en-US" sz="2400" dirty="0"/>
              <a:t>': 2,</a:t>
            </a:r>
          </a:p>
          <a:p>
            <a:pPr marL="0" indent="0">
              <a:buNone/>
            </a:pPr>
            <a:r>
              <a:rPr lang="en-US" sz="2400" dirty="0" smtClean="0"/>
              <a:t> </a:t>
            </a:r>
            <a:r>
              <a:rPr lang="en-US" sz="2400" dirty="0"/>
              <a:t>'</a:t>
            </a:r>
            <a:r>
              <a:rPr lang="en-US" sz="2400" dirty="0" err="1"/>
              <a:t>price_value</a:t>
            </a:r>
            <a:r>
              <a:rPr lang="en-US" sz="2400" dirty="0"/>
              <a:t>': 'pretty affordable'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469786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This Is Powerful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956" y="1728327"/>
            <a:ext cx="8596668" cy="4988357"/>
          </a:xfrm>
        </p:spPr>
        <p:txBody>
          <a:bodyPr>
            <a:normAutofit/>
          </a:bodyPr>
          <a:lstStyle/>
          <a:p>
            <a:r>
              <a:rPr lang="en-US" sz="2400" dirty="0"/>
              <a:t>Now you can</a:t>
            </a:r>
            <a:r>
              <a:rPr lang="en-US" sz="2400" dirty="0" smtClean="0"/>
              <a:t>:</a:t>
            </a:r>
          </a:p>
          <a:p>
            <a:r>
              <a:rPr lang="en-US" sz="2400" dirty="0" err="1"/>
              <a:t>parsed_output</a:t>
            </a:r>
            <a:r>
              <a:rPr lang="en-US" sz="2400" dirty="0"/>
              <a:t>["gift"]</a:t>
            </a:r>
          </a:p>
          <a:p>
            <a:r>
              <a:rPr lang="en-US" sz="2400" dirty="0" err="1"/>
              <a:t>parsed_output</a:t>
            </a:r>
            <a:r>
              <a:rPr lang="en-US" sz="2400" dirty="0"/>
              <a:t>["</a:t>
            </a:r>
            <a:r>
              <a:rPr lang="en-US" sz="2400" dirty="0" err="1"/>
              <a:t>delivery_days</a:t>
            </a:r>
            <a:r>
              <a:rPr lang="en-US" sz="2400" dirty="0" smtClean="0"/>
              <a:t>"]</a:t>
            </a:r>
          </a:p>
          <a:p>
            <a:r>
              <a:rPr lang="en-US" sz="2400" dirty="0"/>
              <a:t>This enables:</a:t>
            </a:r>
          </a:p>
          <a:p>
            <a:r>
              <a:rPr lang="en-US" sz="2400" dirty="0"/>
              <a:t>Automation</a:t>
            </a:r>
          </a:p>
          <a:p>
            <a:r>
              <a:rPr lang="en-US" sz="2400" dirty="0"/>
              <a:t>Decision-making</a:t>
            </a:r>
          </a:p>
          <a:p>
            <a:r>
              <a:rPr lang="en-US" sz="2400" dirty="0"/>
              <a:t>Database storage</a:t>
            </a:r>
          </a:p>
          <a:p>
            <a:r>
              <a:rPr lang="en-US" sz="2400" dirty="0"/>
              <a:t>API calls</a:t>
            </a:r>
          </a:p>
          <a:p>
            <a:r>
              <a:rPr lang="en-US" sz="2400" dirty="0"/>
              <a:t>Logic branching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542542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11455"/>
            <a:ext cx="8596668" cy="3880773"/>
          </a:xfrm>
        </p:spPr>
        <p:txBody>
          <a:bodyPr>
            <a:normAutofit/>
          </a:bodyPr>
          <a:lstStyle/>
          <a:p>
            <a:r>
              <a:rPr lang="en-US" sz="2400" dirty="0" err="1"/>
              <a:t>LangChain</a:t>
            </a:r>
            <a:r>
              <a:rPr lang="en-US" sz="2400" dirty="0"/>
              <a:t> lets you build </a:t>
            </a:r>
            <a:r>
              <a:rPr lang="en-US" sz="2400" b="1" dirty="0"/>
              <a:t>real applications</a:t>
            </a:r>
            <a:r>
              <a:rPr lang="en-US" sz="2400" dirty="0"/>
              <a:t>, not just demos.</a:t>
            </a:r>
          </a:p>
          <a:p>
            <a:r>
              <a:rPr lang="en-US" sz="2400" dirty="0"/>
              <a:t>It enables:</a:t>
            </a:r>
          </a:p>
          <a:p>
            <a:r>
              <a:rPr lang="en-US" sz="2400" dirty="0"/>
              <a:t>Reliable workflows</a:t>
            </a:r>
          </a:p>
          <a:p>
            <a:r>
              <a:rPr lang="en-US" sz="2400" dirty="0"/>
              <a:t>Scalable systems</a:t>
            </a:r>
          </a:p>
          <a:p>
            <a:r>
              <a:rPr lang="en-US" sz="2400" dirty="0"/>
              <a:t>Maintainable code</a:t>
            </a:r>
          </a:p>
          <a:p>
            <a:r>
              <a:rPr lang="en-US" sz="2400" dirty="0"/>
              <a:t>Structured outputs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097893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Memory in </a:t>
            </a:r>
            <a:r>
              <a:rPr lang="en-US" b="1" dirty="0" err="1"/>
              <a:t>LangChain</a:t>
            </a:r>
            <a:endParaRPr lang="en-US" b="1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4735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Memory Is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95818"/>
            <a:ext cx="8596668" cy="5071484"/>
          </a:xfrm>
        </p:spPr>
        <p:txBody>
          <a:bodyPr>
            <a:normAutofit/>
          </a:bodyPr>
          <a:lstStyle/>
          <a:p>
            <a:r>
              <a:rPr lang="en-US" sz="2400" dirty="0"/>
              <a:t>LLMs are </a:t>
            </a:r>
            <a:r>
              <a:rPr lang="en-US" sz="2400" b="1" dirty="0"/>
              <a:t>stateless</a:t>
            </a:r>
            <a:r>
              <a:rPr lang="en-US" sz="2400" dirty="0"/>
              <a:t>.</a:t>
            </a:r>
          </a:p>
          <a:p>
            <a:r>
              <a:rPr lang="en-US" sz="2400" dirty="0"/>
              <a:t>That means:</a:t>
            </a:r>
          </a:p>
          <a:p>
            <a:r>
              <a:rPr lang="en-US" sz="2400" dirty="0"/>
              <a:t>❌ They do NOT remember previous messages</a:t>
            </a:r>
            <a:br>
              <a:rPr lang="en-US" sz="2400" dirty="0"/>
            </a:br>
            <a:r>
              <a:rPr lang="en-US" sz="2400" dirty="0"/>
              <a:t>❌ Each API call is independent</a:t>
            </a:r>
            <a:br>
              <a:rPr lang="en-US" sz="2400" dirty="0"/>
            </a:br>
            <a:r>
              <a:rPr lang="en-US" sz="2400" dirty="0"/>
              <a:t>❌ No built-in conversation history</a:t>
            </a:r>
          </a:p>
          <a:p>
            <a:r>
              <a:rPr lang="en-US" sz="2400" dirty="0"/>
              <a:t>So if you ask</a:t>
            </a:r>
            <a:r>
              <a:rPr lang="en-US" sz="2400" dirty="0" smtClean="0"/>
              <a:t>:</a:t>
            </a:r>
          </a:p>
          <a:p>
            <a:r>
              <a:rPr lang="en-US" sz="2400" dirty="0"/>
              <a:t>Hi, my name is Pankaj.</a:t>
            </a:r>
          </a:p>
          <a:p>
            <a:r>
              <a:rPr lang="en-US" sz="2400" dirty="0"/>
              <a:t>What is my name</a:t>
            </a:r>
            <a:r>
              <a:rPr lang="en-US" sz="2400" dirty="0" smtClean="0"/>
              <a:t>?</a:t>
            </a:r>
          </a:p>
          <a:p>
            <a:r>
              <a:rPr lang="en-US" sz="2400" dirty="0"/>
              <a:t>Without memory → ❌ The model forgets.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69938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</a:t>
            </a:r>
            <a:r>
              <a:rPr lang="en-US" b="1" dirty="0" err="1"/>
              <a:t>Chatbots</a:t>
            </a:r>
            <a:r>
              <a:rPr lang="en-US" b="1" dirty="0"/>
              <a:t> Appear to Have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90"/>
            <a:ext cx="8596668" cy="2494538"/>
          </a:xfrm>
        </p:spPr>
        <p:txBody>
          <a:bodyPr/>
          <a:lstStyle/>
          <a:p>
            <a:r>
              <a:rPr lang="en-US" sz="2400" dirty="0" err="1"/>
              <a:t>Chatbots</a:t>
            </a:r>
            <a:r>
              <a:rPr lang="en-US" sz="2400" dirty="0"/>
              <a:t> </a:t>
            </a:r>
            <a:r>
              <a:rPr lang="en-US" sz="2400" b="1" dirty="0"/>
              <a:t>fake memory</a:t>
            </a:r>
            <a:r>
              <a:rPr lang="en-US" sz="2400" dirty="0"/>
              <a:t> by:</a:t>
            </a:r>
          </a:p>
          <a:p>
            <a:r>
              <a:rPr lang="en-US" sz="2400" dirty="0"/>
              <a:t>👉 Sending the entire previous conversation</a:t>
            </a:r>
            <a:br>
              <a:rPr lang="en-US" sz="2400" dirty="0"/>
            </a:br>
            <a:r>
              <a:rPr lang="en-US" sz="2400" dirty="0"/>
              <a:t>👉 As part of the next prompt</a:t>
            </a:r>
          </a:p>
          <a:p>
            <a:r>
              <a:rPr lang="en-US" sz="2400" dirty="0"/>
              <a:t>So memory = </a:t>
            </a:r>
            <a:r>
              <a:rPr lang="en-US" sz="2400" b="1" dirty="0"/>
              <a:t>context injection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4277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LangChain’s</a:t>
            </a:r>
            <a:r>
              <a:rPr lang="en-US" b="1" dirty="0"/>
              <a:t>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 err="1"/>
              <a:t>LangChain</a:t>
            </a:r>
            <a:r>
              <a:rPr lang="en-US" sz="2400" dirty="0"/>
              <a:t> provides </a:t>
            </a:r>
            <a:r>
              <a:rPr lang="en-US" sz="2400" b="1" dirty="0"/>
              <a:t>memory modules</a:t>
            </a:r>
            <a:r>
              <a:rPr lang="en-US" sz="2400" dirty="0"/>
              <a:t> that: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Store conversation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 </a:t>
            </a:r>
            <a:r>
              <a:rPr lang="en-US" sz="2400" dirty="0"/>
              <a:t>Inject it into </a:t>
            </a:r>
            <a:r>
              <a:rPr lang="en-US" sz="2400" dirty="0" smtClean="0"/>
              <a:t>prompts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 </a:t>
            </a:r>
            <a:r>
              <a:rPr lang="en-US" sz="2400" dirty="0"/>
              <a:t>Control </a:t>
            </a:r>
            <a:r>
              <a:rPr lang="en-US" sz="2400" dirty="0" smtClean="0"/>
              <a:t>cost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Prevent </a:t>
            </a:r>
            <a:r>
              <a:rPr lang="en-US" sz="2400" dirty="0"/>
              <a:t>token </a:t>
            </a:r>
            <a:r>
              <a:rPr lang="en-US" sz="2400" dirty="0" smtClean="0"/>
              <a:t>overflow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Summarize </a:t>
            </a:r>
            <a:r>
              <a:rPr lang="en-US" sz="2400" dirty="0"/>
              <a:t>when needed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2251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0713"/>
            <a:ext cx="10158153" cy="1320800"/>
          </a:xfrm>
        </p:spPr>
        <p:txBody>
          <a:bodyPr/>
          <a:lstStyle/>
          <a:p>
            <a:r>
              <a:rPr lang="en-US" b="1" dirty="0"/>
              <a:t>Basic Memory Example (Conversation Buffer)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570" y="1196314"/>
            <a:ext cx="8596668" cy="1197752"/>
          </a:xfrm>
        </p:spPr>
        <p:txBody>
          <a:bodyPr/>
          <a:lstStyle/>
          <a:p>
            <a:r>
              <a:rPr lang="en-US" sz="2400" b="1" dirty="0"/>
              <a:t>What it does:</a:t>
            </a:r>
          </a:p>
          <a:p>
            <a:r>
              <a:rPr lang="en-US" sz="2400" dirty="0"/>
              <a:t>Stores </a:t>
            </a:r>
            <a:r>
              <a:rPr lang="en-US" sz="2400" b="1" dirty="0"/>
              <a:t>everything</a:t>
            </a:r>
            <a:r>
              <a:rPr lang="en-US" sz="2400" dirty="0"/>
              <a:t>.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71302" y="2517114"/>
            <a:ext cx="9204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langchain_core.chat_history</a:t>
            </a:r>
            <a:r>
              <a:rPr lang="en-US" dirty="0"/>
              <a:t> import </a:t>
            </a:r>
            <a:r>
              <a:rPr lang="en-US" dirty="0" err="1"/>
              <a:t>InMemoryChatMessageHistory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langchain_core.runnables.history</a:t>
            </a:r>
            <a:r>
              <a:rPr lang="en-US" dirty="0"/>
              <a:t> import </a:t>
            </a:r>
            <a:r>
              <a:rPr lang="en-US" dirty="0" err="1"/>
              <a:t>RunnableWithMessageHistory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1640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this works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77334" y="1332468"/>
            <a:ext cx="431720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LangChain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internally builds:</a:t>
            </a: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77334" y="2114204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User: Hi, my name is Pankaj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AI: Hello Pankaj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User: What is 1+1?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AI: 2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User: What is my name</a:t>
            </a:r>
            <a:r>
              <a:rPr lang="en-US" sz="2400" dirty="0" smtClean="0"/>
              <a:t>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And sends this entire history to the LLM.</a:t>
            </a:r>
          </a:p>
        </p:txBody>
      </p:sp>
    </p:spTree>
    <p:extLst>
      <p:ext uri="{BB962C8B-B14F-4D97-AF65-F5344CB8AC3E}">
        <p14:creationId xmlns:p14="http://schemas.microsoft.com/office/powerpoint/2010/main" val="18659418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Inspecting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print(</a:t>
            </a:r>
            <a:r>
              <a:rPr lang="en-US" sz="2400" dirty="0" err="1" smtClean="0"/>
              <a:t>memory.buffer</a:t>
            </a:r>
            <a:r>
              <a:rPr lang="en-US" sz="2400" dirty="0" smtClean="0"/>
              <a:t>)</a:t>
            </a:r>
          </a:p>
          <a:p>
            <a:r>
              <a:rPr lang="en-US" sz="2400" dirty="0"/>
              <a:t>Shows</a:t>
            </a:r>
            <a:r>
              <a:rPr lang="en-US" sz="2400" dirty="0" smtClean="0"/>
              <a:t>:</a:t>
            </a:r>
          </a:p>
          <a:p>
            <a:r>
              <a:rPr lang="en-US" sz="2400" dirty="0"/>
              <a:t>Human: Hi, my name is Pankaj</a:t>
            </a:r>
          </a:p>
          <a:p>
            <a:r>
              <a:rPr lang="en-US" sz="2400" dirty="0"/>
              <a:t>AI: Hello Pankaj</a:t>
            </a:r>
          </a:p>
          <a:p>
            <a:r>
              <a:rPr lang="en-US" sz="2400" dirty="0"/>
              <a:t>Human: What is 1 + 1?</a:t>
            </a:r>
          </a:p>
          <a:p>
            <a:r>
              <a:rPr lang="en-US" sz="2400" dirty="0"/>
              <a:t>AI: 2</a:t>
            </a:r>
          </a:p>
          <a:p>
            <a:r>
              <a:rPr lang="en-US" sz="2400" dirty="0"/>
              <a:t>...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671134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337" y="609600"/>
            <a:ext cx="8596668" cy="1320800"/>
          </a:xfrm>
        </p:spPr>
        <p:txBody>
          <a:bodyPr/>
          <a:lstStyle/>
          <a:p>
            <a:r>
              <a:rPr lang="en-US" b="1" dirty="0"/>
              <a:t>Problem With Full Buffer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0337" y="1695076"/>
            <a:ext cx="8596668" cy="3880773"/>
          </a:xfrm>
        </p:spPr>
        <p:txBody>
          <a:bodyPr>
            <a:normAutofit/>
          </a:bodyPr>
          <a:lstStyle/>
          <a:p>
            <a:r>
              <a:rPr lang="en-US" sz="2400" dirty="0"/>
              <a:t>As conversation grows: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❌ Token cost </a:t>
            </a:r>
            <a:r>
              <a:rPr lang="en-US" sz="2400" dirty="0" smtClean="0"/>
              <a:t>increases</a:t>
            </a:r>
          </a:p>
          <a:p>
            <a:pPr>
              <a:lnSpc>
                <a:spcPct val="200000"/>
              </a:lnSpc>
            </a:pPr>
            <a:r>
              <a:rPr lang="en-US" sz="2400" dirty="0" smtClean="0"/>
              <a:t>❌ </a:t>
            </a:r>
            <a:r>
              <a:rPr lang="en-US" sz="2400" dirty="0"/>
              <a:t>Slower </a:t>
            </a:r>
            <a:r>
              <a:rPr lang="en-US" sz="2400" dirty="0" smtClean="0"/>
              <a:t>responses</a:t>
            </a:r>
          </a:p>
          <a:p>
            <a:pPr>
              <a:lnSpc>
                <a:spcPct val="200000"/>
              </a:lnSpc>
            </a:pPr>
            <a:r>
              <a:rPr lang="en-US" sz="2400" dirty="0" smtClean="0"/>
              <a:t>❌ </a:t>
            </a:r>
            <a:r>
              <a:rPr lang="en-US" sz="2400" dirty="0"/>
              <a:t>Can exceed model context window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295193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Sliding Window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578" y="1814022"/>
            <a:ext cx="11010360" cy="4819534"/>
          </a:xfrm>
        </p:spPr>
        <p:txBody>
          <a:bodyPr>
            <a:normAutofit/>
          </a:bodyPr>
          <a:lstStyle/>
          <a:p>
            <a:r>
              <a:rPr lang="en-US" sz="2800" dirty="0"/>
              <a:t>Keeps only </a:t>
            </a:r>
            <a:r>
              <a:rPr lang="en-US" sz="2800" b="1" dirty="0"/>
              <a:t>last k exchanges</a:t>
            </a:r>
            <a:r>
              <a:rPr lang="en-US" sz="2800" dirty="0" smtClean="0"/>
              <a:t>.</a:t>
            </a:r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dirty="0" smtClean="0"/>
              <a:t>This </a:t>
            </a:r>
            <a:r>
              <a:rPr lang="en-US" sz="2800" dirty="0"/>
              <a:t>remembers only:</a:t>
            </a:r>
          </a:p>
          <a:p>
            <a:r>
              <a:rPr lang="en-US" sz="2800" dirty="0"/>
              <a:t>👉 Last user </a:t>
            </a:r>
            <a:r>
              <a:rPr lang="en-US" sz="2800" dirty="0" smtClean="0"/>
              <a:t>message</a:t>
            </a:r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dirty="0" smtClean="0"/>
              <a:t>👉 </a:t>
            </a:r>
            <a:r>
              <a:rPr lang="en-US" sz="2800" dirty="0"/>
              <a:t>Last AI reply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768723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Behavior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349659"/>
              </p:ext>
            </p:extLst>
          </p:nvPr>
        </p:nvGraphicFramePr>
        <p:xfrm>
          <a:off x="461732" y="1673989"/>
          <a:ext cx="8812270" cy="2781632"/>
        </p:xfrm>
        <a:graphic>
          <a:graphicData uri="http://schemas.openxmlformats.org/drawingml/2006/table">
            <a:tbl>
              <a:tblPr/>
              <a:tblGrid>
                <a:gridCol w="4406135"/>
                <a:gridCol w="4406135"/>
              </a:tblGrid>
              <a:tr h="695408">
                <a:tc>
                  <a:txBody>
                    <a:bodyPr/>
                    <a:lstStyle/>
                    <a:p>
                      <a:r>
                        <a:rPr lang="en-US" b="1" dirty="0"/>
                        <a:t>Question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5408">
                <a:tc>
                  <a:txBody>
                    <a:bodyPr/>
                    <a:lstStyle/>
                    <a:p>
                      <a:r>
                        <a:rPr lang="en-US" dirty="0"/>
                        <a:t>Hi, my name is Pankaj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Stored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5408">
                <a:tc>
                  <a:txBody>
                    <a:bodyPr/>
                    <a:lstStyle/>
                    <a:p>
                      <a:r>
                        <a:rPr lang="en-US" dirty="0"/>
                        <a:t>What is 1 + 1?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5408">
                <a:tc>
                  <a:txBody>
                    <a:bodyPr/>
                    <a:lstStyle/>
                    <a:p>
                      <a:r>
                        <a:rPr lang="en-US"/>
                        <a:t>What is my name?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❌ Forgotten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08075" y="4785899"/>
            <a:ext cx="61718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Because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k=1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keeps only the last exchange.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9700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60465"/>
            <a:ext cx="8596668" cy="1320800"/>
          </a:xfrm>
        </p:spPr>
        <p:txBody>
          <a:bodyPr/>
          <a:lstStyle/>
          <a:p>
            <a:r>
              <a:rPr lang="en-US" b="1" dirty="0"/>
              <a:t>Token-Based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920865"/>
            <a:ext cx="8596668" cy="3880773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400" dirty="0" smtClean="0"/>
              <a:t>Instead </a:t>
            </a:r>
            <a:r>
              <a:rPr lang="en-US" sz="2400" dirty="0"/>
              <a:t>of counting messages, it counts </a:t>
            </a:r>
            <a:r>
              <a:rPr lang="en-US" sz="2400" b="1" dirty="0"/>
              <a:t>tokens</a:t>
            </a:r>
            <a:r>
              <a:rPr lang="en-US" sz="2400" dirty="0"/>
              <a:t>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This is important because: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💰 LLMs charge by token</a:t>
            </a:r>
            <a:br>
              <a:rPr lang="en-US" sz="2400" dirty="0"/>
            </a:br>
            <a:r>
              <a:rPr lang="en-US" sz="2400" dirty="0"/>
              <a:t>⚠ Token limits exist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6746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95076"/>
            <a:ext cx="8596668" cy="388077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Keeps recent </a:t>
            </a:r>
            <a:r>
              <a:rPr lang="en-US" sz="2400" dirty="0" smtClean="0"/>
              <a:t>messages</a:t>
            </a:r>
          </a:p>
          <a:p>
            <a:pPr>
              <a:lnSpc>
                <a:spcPct val="200000"/>
              </a:lnSpc>
            </a:pPr>
            <a:r>
              <a:rPr lang="en-US" sz="2400" dirty="0" smtClean="0"/>
              <a:t> </a:t>
            </a:r>
            <a:r>
              <a:rPr lang="en-US" sz="2400" dirty="0"/>
              <a:t>Drops old </a:t>
            </a:r>
            <a:r>
              <a:rPr lang="en-US" sz="2400" dirty="0" smtClean="0"/>
              <a:t>ones</a:t>
            </a:r>
          </a:p>
          <a:p>
            <a:pPr>
              <a:lnSpc>
                <a:spcPct val="200000"/>
              </a:lnSpc>
            </a:pPr>
            <a:r>
              <a:rPr lang="en-US" sz="2400" dirty="0" smtClean="0"/>
              <a:t>Token-aware</a:t>
            </a:r>
          </a:p>
          <a:p>
            <a:pPr>
              <a:lnSpc>
                <a:spcPct val="200000"/>
              </a:lnSpc>
            </a:pPr>
            <a:r>
              <a:rPr lang="en-US" sz="2400" dirty="0" smtClean="0"/>
              <a:t>Cost-friendly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245827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075" y="127462"/>
            <a:ext cx="9962957" cy="1320800"/>
          </a:xfrm>
        </p:spPr>
        <p:txBody>
          <a:bodyPr/>
          <a:lstStyle/>
          <a:p>
            <a:r>
              <a:rPr lang="en-US" b="1" dirty="0"/>
              <a:t>Summary-Based Memory (Very Important)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075" y="1132379"/>
            <a:ext cx="8596668" cy="3880773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400" dirty="0"/>
              <a:t>Instead of storing everything: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👉 It </a:t>
            </a:r>
            <a:r>
              <a:rPr lang="en-US" sz="2400" b="1" dirty="0"/>
              <a:t>summarizes old </a:t>
            </a:r>
            <a:r>
              <a:rPr lang="en-US" sz="2400" b="1" dirty="0" smtClean="0"/>
              <a:t>content</a:t>
            </a:r>
            <a:endParaRPr lang="en-US" sz="2400" dirty="0" smtClean="0"/>
          </a:p>
          <a:p>
            <a:pPr>
              <a:lnSpc>
                <a:spcPct val="200000"/>
              </a:lnSpc>
            </a:pPr>
            <a:r>
              <a:rPr lang="en-US" sz="2400" dirty="0" smtClean="0"/>
              <a:t>👉 </a:t>
            </a:r>
            <a:r>
              <a:rPr lang="en-US" sz="2400" dirty="0"/>
              <a:t>Keeps key </a:t>
            </a:r>
            <a:r>
              <a:rPr lang="en-US" sz="2400" dirty="0" smtClean="0"/>
              <a:t>information</a:t>
            </a:r>
          </a:p>
          <a:p>
            <a:pPr>
              <a:lnSpc>
                <a:spcPct val="200000"/>
              </a:lnSpc>
            </a:pPr>
            <a:r>
              <a:rPr lang="en-US" sz="2400" dirty="0" smtClean="0"/>
              <a:t>👉 </a:t>
            </a:r>
            <a:r>
              <a:rPr lang="en-US" sz="2400" dirty="0"/>
              <a:t>Saves tokens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4594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767" y="459048"/>
            <a:ext cx="8596668" cy="1320800"/>
          </a:xfrm>
        </p:spPr>
        <p:txBody>
          <a:bodyPr/>
          <a:lstStyle/>
          <a:p>
            <a:r>
              <a:rPr lang="en-US" b="1" dirty="0"/>
              <a:t>How This Works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31767" y="1120372"/>
            <a:ext cx="3937296" cy="3671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Conversation grows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 limit reached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LangChain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calls LLM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 summarizes old chat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 replaces old text</a:t>
            </a:r>
          </a:p>
        </p:txBody>
      </p:sp>
    </p:spTree>
    <p:extLst>
      <p:ext uri="{BB962C8B-B14F-4D97-AF65-F5344CB8AC3E}">
        <p14:creationId xmlns:p14="http://schemas.microsoft.com/office/powerpoint/2010/main" val="1334230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This Is Powerful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45200"/>
            <a:ext cx="8596668" cy="388077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Keeps </a:t>
            </a:r>
            <a:r>
              <a:rPr lang="en-US" sz="2400" dirty="0" smtClean="0"/>
              <a:t>meaning</a:t>
            </a:r>
          </a:p>
          <a:p>
            <a:pPr>
              <a:lnSpc>
                <a:spcPct val="200000"/>
              </a:lnSpc>
            </a:pPr>
            <a:r>
              <a:rPr lang="en-US" sz="2400" dirty="0" smtClean="0"/>
              <a:t>Saves cost</a:t>
            </a:r>
          </a:p>
          <a:p>
            <a:pPr>
              <a:lnSpc>
                <a:spcPct val="200000"/>
              </a:lnSpc>
            </a:pPr>
            <a:r>
              <a:rPr lang="en-US" sz="2400" dirty="0" smtClean="0"/>
              <a:t>Prevents overflow</a:t>
            </a:r>
          </a:p>
          <a:p>
            <a:pPr>
              <a:lnSpc>
                <a:spcPct val="200000"/>
              </a:lnSpc>
            </a:pPr>
            <a:r>
              <a:rPr lang="en-US" sz="2400" dirty="0" smtClean="0"/>
              <a:t>Maintains </a:t>
            </a:r>
            <a:r>
              <a:rPr lang="en-US" sz="2400" dirty="0"/>
              <a:t>continuity</a:t>
            </a:r>
          </a:p>
        </p:txBody>
      </p:sp>
    </p:spTree>
    <p:extLst>
      <p:ext uri="{BB962C8B-B14F-4D97-AF65-F5344CB8AC3E}">
        <p14:creationId xmlns:p14="http://schemas.microsoft.com/office/powerpoint/2010/main" val="535857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Visual Comparison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208154"/>
              </p:ext>
            </p:extLst>
          </p:nvPr>
        </p:nvGraphicFramePr>
        <p:xfrm>
          <a:off x="511079" y="1930400"/>
          <a:ext cx="9347816" cy="4786284"/>
        </p:xfrm>
        <a:graphic>
          <a:graphicData uri="http://schemas.openxmlformats.org/drawingml/2006/table">
            <a:tbl>
              <a:tblPr/>
              <a:tblGrid>
                <a:gridCol w="2336954"/>
                <a:gridCol w="2336954"/>
                <a:gridCol w="2336954"/>
                <a:gridCol w="2336954"/>
              </a:tblGrid>
              <a:tr h="909810">
                <a:tc>
                  <a:txBody>
                    <a:bodyPr/>
                    <a:lstStyle/>
                    <a:p>
                      <a:r>
                        <a:rPr lang="en-US" sz="2400" b="1" dirty="0"/>
                        <a:t>Memory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Stores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9810">
                <a:tc>
                  <a:txBody>
                    <a:bodyPr/>
                    <a:lstStyle/>
                    <a:p>
                      <a:r>
                        <a:rPr lang="en-US" sz="2400" dirty="0"/>
                        <a:t>Buffer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Everything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❌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✅ Best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9810">
                <a:tc>
                  <a:txBody>
                    <a:bodyPr/>
                    <a:lstStyle/>
                    <a:p>
                      <a:r>
                        <a:rPr lang="en-US" sz="2400"/>
                        <a:t>Window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Last 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✅ 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❌ 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9810">
                <a:tc>
                  <a:txBody>
                    <a:bodyPr/>
                    <a:lstStyle/>
                    <a:p>
                      <a:r>
                        <a:rPr lang="en-US" sz="2400"/>
                        <a:t>Token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Token-based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✅ Controlled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⚠ 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7044">
                <a:tc>
                  <a:txBody>
                    <a:bodyPr/>
                    <a:lstStyle/>
                    <a:p>
                      <a:r>
                        <a:rPr lang="en-US" sz="2400"/>
                        <a:t>Summary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Summaries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✅ Very 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⚠ Approximate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82974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One-Line Exam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135" y="2160589"/>
            <a:ext cx="9825643" cy="4007455"/>
          </a:xfrm>
        </p:spPr>
        <p:txBody>
          <a:bodyPr/>
          <a:lstStyle/>
          <a:p>
            <a:r>
              <a:rPr lang="en-US" sz="3600" dirty="0" err="1"/>
              <a:t>LangChain</a:t>
            </a:r>
            <a:r>
              <a:rPr lang="en-US" sz="3600" dirty="0"/>
              <a:t> memory does not give LLMs real memory. </a:t>
            </a:r>
            <a:endParaRPr lang="en-US" sz="3600" dirty="0" smtClean="0"/>
          </a:p>
          <a:p>
            <a:r>
              <a:rPr lang="en-US" sz="3600" dirty="0" smtClean="0"/>
              <a:t>It </a:t>
            </a:r>
            <a:r>
              <a:rPr lang="en-US" sz="3600" dirty="0"/>
              <a:t>stores past interactions and reinjects them into the prompt to simulate continuity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20997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Chains in </a:t>
            </a:r>
            <a:r>
              <a:rPr lang="en-US" b="1" dirty="0" err="1"/>
              <a:t>LangChain</a:t>
            </a:r>
            <a:endParaRPr lang="en-US" b="1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Simplest </a:t>
            </a:r>
            <a:r>
              <a:rPr lang="en-US" b="1" dirty="0" smtClean="0"/>
              <a:t>Chain</a:t>
            </a:r>
          </a:p>
          <a:p>
            <a:r>
              <a:rPr lang="en-US" b="1" dirty="0"/>
              <a:t>Sequential </a:t>
            </a:r>
            <a:r>
              <a:rPr lang="en-US" b="1" dirty="0" smtClean="0"/>
              <a:t>Chains</a:t>
            </a:r>
          </a:p>
          <a:p>
            <a:r>
              <a:rPr lang="en-US" b="1" dirty="0"/>
              <a:t>Router Chains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4269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14" y="598516"/>
            <a:ext cx="8596668" cy="1320800"/>
          </a:xfrm>
        </p:spPr>
        <p:txBody>
          <a:bodyPr/>
          <a:lstStyle/>
          <a:p>
            <a:r>
              <a:rPr lang="en-US" b="1" dirty="0"/>
              <a:t>What is a Chain?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11080" y="1606813"/>
            <a:ext cx="10987944" cy="3671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chain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most important building block of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LangChain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chain = 👉 Prompt 👉 Model 👉 (Optional) Memory👉 (Optional) Output parser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(Optional) Tools👉 Logic to connect them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simple words: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chain is a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workflow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runs one or more LLM calls in sequence.</a:t>
            </a:r>
          </a:p>
        </p:txBody>
      </p:sp>
    </p:spTree>
    <p:extLst>
      <p:ext uri="{BB962C8B-B14F-4D97-AF65-F5344CB8AC3E}">
        <p14:creationId xmlns:p14="http://schemas.microsoft.com/office/powerpoint/2010/main" val="4320275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Chains Are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95076"/>
            <a:ext cx="8596668" cy="388077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Real </a:t>
            </a:r>
            <a:r>
              <a:rPr lang="en-US" sz="2400" dirty="0"/>
              <a:t>applications rarely do just one thing.</a:t>
            </a:r>
          </a:p>
          <a:p>
            <a:r>
              <a:rPr lang="en-US" sz="2400" dirty="0"/>
              <a:t>They often require:</a:t>
            </a:r>
          </a:p>
          <a:p>
            <a:r>
              <a:rPr lang="en-US" sz="2400" dirty="0"/>
              <a:t>Translate → summarize → respond</a:t>
            </a:r>
          </a:p>
          <a:p>
            <a:r>
              <a:rPr lang="en-US" sz="2400" dirty="0"/>
              <a:t>Extract → analyze → explain</a:t>
            </a:r>
          </a:p>
          <a:p>
            <a:r>
              <a:rPr lang="en-US" sz="2400" dirty="0"/>
              <a:t>Classify → route → answer</a:t>
            </a:r>
          </a:p>
          <a:p>
            <a:r>
              <a:rPr lang="en-US" sz="2400" dirty="0"/>
              <a:t>Generate → refine → format</a:t>
            </a:r>
          </a:p>
          <a:p>
            <a:r>
              <a:rPr lang="en-US" sz="2400" dirty="0"/>
              <a:t>Chains let you </a:t>
            </a:r>
            <a:r>
              <a:rPr lang="en-US" sz="2400" b="1" dirty="0"/>
              <a:t>compose</a:t>
            </a:r>
            <a:r>
              <a:rPr lang="en-US" sz="2400" dirty="0"/>
              <a:t> these steps.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161879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Old vs New </a:t>
            </a:r>
            <a:r>
              <a:rPr lang="en-US" b="1" dirty="0" err="1"/>
              <a:t>LangChain</a:t>
            </a:r>
            <a:r>
              <a:rPr lang="en-US" b="1" dirty="0"/>
              <a:t> Syntax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720521"/>
              </p:ext>
            </p:extLst>
          </p:nvPr>
        </p:nvGraphicFramePr>
        <p:xfrm>
          <a:off x="275850" y="1707240"/>
          <a:ext cx="8998152" cy="4859812"/>
        </p:xfrm>
        <a:graphic>
          <a:graphicData uri="http://schemas.openxmlformats.org/drawingml/2006/table">
            <a:tbl>
              <a:tblPr/>
              <a:tblGrid>
                <a:gridCol w="4499076"/>
                <a:gridCol w="4499076"/>
              </a:tblGrid>
              <a:tr h="773706">
                <a:tc>
                  <a:txBody>
                    <a:bodyPr/>
                    <a:lstStyle/>
                    <a:p>
                      <a:r>
                        <a:rPr lang="en-US" sz="2400" b="1" dirty="0"/>
                        <a:t>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New (2025)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706">
                <a:tc>
                  <a:txBody>
                    <a:bodyPr/>
                    <a:lstStyle/>
                    <a:p>
                      <a:r>
                        <a:rPr lang="en-US" sz="2400" dirty="0" err="1"/>
                        <a:t>LLMChain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RunnableSequence / LCEL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706">
                <a:tc>
                  <a:txBody>
                    <a:bodyPr/>
                    <a:lstStyle/>
                    <a:p>
                      <a:r>
                        <a:rPr lang="en-US" sz="2400" dirty="0" err="1"/>
                        <a:t>chain.run</a:t>
                      </a:r>
                      <a:r>
                        <a:rPr lang="en-US" sz="240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chain.invoke</a:t>
                      </a:r>
                      <a:r>
                        <a:rPr lang="en-US" sz="240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706">
                <a:tc>
                  <a:txBody>
                    <a:bodyPr/>
                    <a:lstStyle/>
                    <a:p>
                      <a:r>
                        <a:rPr lang="en-US" sz="2400"/>
                        <a:t>SimpleSequentialChain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RunnableSequence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706">
                <a:tc>
                  <a:txBody>
                    <a:bodyPr/>
                    <a:lstStyle/>
                    <a:p>
                      <a:r>
                        <a:rPr lang="en-US" sz="2400"/>
                        <a:t>SequentialChain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RunnableSequence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1282">
                <a:tc>
                  <a:txBody>
                    <a:bodyPr/>
                    <a:lstStyle/>
                    <a:p>
                      <a:r>
                        <a:rPr lang="en-US" sz="2400" dirty="0" err="1"/>
                        <a:t>MultiPromptChain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Router chains (</a:t>
                      </a:r>
                      <a:r>
                        <a:rPr lang="en-US" sz="2400" dirty="0" err="1"/>
                        <a:t>RunnableBranch</a:t>
                      </a:r>
                      <a:r>
                        <a:rPr lang="en-US" sz="24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44461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955" y="193963"/>
            <a:ext cx="8596668" cy="1320800"/>
          </a:xfrm>
        </p:spPr>
        <p:txBody>
          <a:bodyPr/>
          <a:lstStyle/>
          <a:p>
            <a:r>
              <a:rPr lang="en-US" b="1" dirty="0"/>
              <a:t>The Simplest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210" y="1187637"/>
            <a:ext cx="8596668" cy="615862"/>
          </a:xfrm>
        </p:spPr>
        <p:txBody>
          <a:bodyPr>
            <a:normAutofit/>
          </a:bodyPr>
          <a:lstStyle/>
          <a:p>
            <a:r>
              <a:rPr lang="en-US" sz="2400" dirty="0"/>
              <a:t>A basic chain = Prompt → </a:t>
            </a:r>
            <a:r>
              <a:rPr lang="en-US" sz="2400" dirty="0" smtClean="0"/>
              <a:t>LLM</a:t>
            </a:r>
          </a:p>
          <a:p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404552" y="1964353"/>
            <a:ext cx="10285615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from </a:t>
            </a:r>
            <a:r>
              <a:rPr lang="en-US" sz="2400" dirty="0" err="1"/>
              <a:t>langchain_openai</a:t>
            </a:r>
            <a:r>
              <a:rPr lang="en-US" sz="2400" dirty="0"/>
              <a:t> import </a:t>
            </a:r>
            <a:r>
              <a:rPr lang="en-US" sz="2400" dirty="0" err="1"/>
              <a:t>ChatOpenAI</a:t>
            </a:r>
            <a:endParaRPr lang="en-US" sz="2400" dirty="0"/>
          </a:p>
          <a:p>
            <a:r>
              <a:rPr lang="en-US" sz="2400" dirty="0"/>
              <a:t>from </a:t>
            </a:r>
            <a:r>
              <a:rPr lang="en-US" sz="2400" dirty="0" err="1"/>
              <a:t>langchain.prompts</a:t>
            </a:r>
            <a:r>
              <a:rPr lang="en-US" sz="2400" dirty="0"/>
              <a:t> import </a:t>
            </a:r>
            <a:r>
              <a:rPr lang="en-US" sz="2400" dirty="0" err="1"/>
              <a:t>ChatPromptTemplate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llm</a:t>
            </a:r>
            <a:r>
              <a:rPr lang="en-US" sz="2400" dirty="0"/>
              <a:t> = </a:t>
            </a:r>
            <a:r>
              <a:rPr lang="en-US" sz="2400" dirty="0" err="1"/>
              <a:t>ChatOpenAI</a:t>
            </a:r>
            <a:r>
              <a:rPr lang="en-US" sz="2400" dirty="0"/>
              <a:t>(temperature=0.8)</a:t>
            </a:r>
          </a:p>
          <a:p>
            <a:endParaRPr lang="en-US" sz="2400" dirty="0"/>
          </a:p>
          <a:p>
            <a:r>
              <a:rPr lang="en-US" sz="2400" dirty="0"/>
              <a:t>prompt = </a:t>
            </a:r>
            <a:r>
              <a:rPr lang="en-US" sz="2400" dirty="0" err="1"/>
              <a:t>ChatPromptTemplate.from_template</a:t>
            </a:r>
            <a:r>
              <a:rPr lang="en-US" sz="2400" dirty="0"/>
              <a:t>(</a:t>
            </a:r>
          </a:p>
          <a:p>
            <a:r>
              <a:rPr lang="en-US" sz="2400" dirty="0"/>
              <a:t>    "Suggest a creative company name for a business that sells {product}"</a:t>
            </a:r>
          </a:p>
          <a:p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dirty="0"/>
              <a:t>chain = prompt | </a:t>
            </a:r>
            <a:r>
              <a:rPr lang="en-US" sz="2400" dirty="0" err="1"/>
              <a:t>llm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result = </a:t>
            </a:r>
            <a:r>
              <a:rPr lang="en-US" sz="2400" dirty="0" err="1"/>
              <a:t>chain.invoke</a:t>
            </a:r>
            <a:r>
              <a:rPr lang="en-US" sz="2400" dirty="0"/>
              <a:t>({"product": "queen-size sheet set"})</a:t>
            </a:r>
          </a:p>
          <a:p>
            <a:r>
              <a:rPr lang="en-US" sz="2400" dirty="0"/>
              <a:t>print(</a:t>
            </a:r>
            <a:r>
              <a:rPr lang="en-US" sz="2400" dirty="0" err="1"/>
              <a:t>result.content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1266924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Happened?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2344909"/>
          </a:xfrm>
        </p:spPr>
        <p:txBody>
          <a:bodyPr/>
          <a:lstStyle/>
          <a:p>
            <a:r>
              <a:rPr lang="en-US" sz="2400" b="1" dirty="0"/>
              <a:t>Prompt was formatted</a:t>
            </a:r>
          </a:p>
          <a:p>
            <a:r>
              <a:rPr lang="en-US" sz="2400" b="1" dirty="0"/>
              <a:t>Sent to LLM</a:t>
            </a:r>
          </a:p>
          <a:p>
            <a:r>
              <a:rPr lang="en-US" sz="2400" b="1" dirty="0"/>
              <a:t>Output returned</a:t>
            </a:r>
          </a:p>
          <a:p>
            <a:r>
              <a:rPr lang="en-US" sz="2400" b="1" dirty="0"/>
              <a:t>This is the most basic chain.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4254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This Is Called a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Because we can </a:t>
            </a:r>
            <a:r>
              <a:rPr lang="en-US" sz="2400" b="1" dirty="0"/>
              <a:t>chain multiple steps</a:t>
            </a:r>
            <a:r>
              <a:rPr lang="en-US" sz="2400" dirty="0" smtClean="0"/>
              <a:t>:</a:t>
            </a:r>
          </a:p>
          <a:p>
            <a:r>
              <a:rPr lang="en-US" sz="2400" dirty="0"/>
              <a:t>Input → Prompt → LLM → </a:t>
            </a:r>
            <a:r>
              <a:rPr lang="en-US" sz="2400" dirty="0" smtClean="0"/>
              <a:t>Output</a:t>
            </a:r>
          </a:p>
          <a:p>
            <a:r>
              <a:rPr lang="en-US" sz="2400" dirty="0"/>
              <a:t>Input → Prompt1 → LLM → Prompt2 → LLM → Output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869076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Sequential Chains (Modern Way)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450" y="1628575"/>
            <a:ext cx="10977109" cy="1530262"/>
          </a:xfrm>
        </p:spPr>
        <p:txBody>
          <a:bodyPr>
            <a:normAutofit/>
          </a:bodyPr>
          <a:lstStyle/>
          <a:p>
            <a:r>
              <a:rPr lang="en-US" sz="2400" dirty="0"/>
              <a:t>Sequential = output of one step becomes input to next step</a:t>
            </a:r>
            <a:r>
              <a:rPr lang="en-US" sz="2400" dirty="0" smtClean="0"/>
              <a:t>.</a:t>
            </a:r>
          </a:p>
          <a:p>
            <a:r>
              <a:rPr lang="en-US" sz="2400" b="1" dirty="0"/>
              <a:t>Example </a:t>
            </a:r>
            <a:r>
              <a:rPr lang="en-US" sz="2400" b="1" dirty="0" smtClean="0"/>
              <a:t>Workflow: 1.</a:t>
            </a:r>
            <a:r>
              <a:rPr lang="en-US" sz="2400" dirty="0" smtClean="0"/>
              <a:t>Generate </a:t>
            </a:r>
            <a:r>
              <a:rPr lang="en-US" sz="2400" dirty="0"/>
              <a:t>company </a:t>
            </a:r>
            <a:r>
              <a:rPr lang="en-US" sz="2400" dirty="0" smtClean="0"/>
              <a:t>name ,2.Generate </a:t>
            </a:r>
            <a:r>
              <a:rPr lang="en-US" sz="2400" dirty="0"/>
              <a:t>description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1666103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This Is Powerful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965430" cy="3880773"/>
          </a:xfrm>
        </p:spPr>
        <p:txBody>
          <a:bodyPr>
            <a:normAutofit/>
          </a:bodyPr>
          <a:lstStyle/>
          <a:p>
            <a:r>
              <a:rPr lang="en-US" sz="2400" dirty="0"/>
              <a:t>You can build </a:t>
            </a:r>
            <a:r>
              <a:rPr lang="en-US" sz="2400" b="1" dirty="0"/>
              <a:t>pipelines</a:t>
            </a:r>
            <a:r>
              <a:rPr lang="en-US" sz="2400" dirty="0" smtClean="0"/>
              <a:t>.</a:t>
            </a:r>
            <a:endParaRPr lang="en-US" sz="2400" dirty="0"/>
          </a:p>
          <a:p>
            <a:r>
              <a:rPr lang="en-US" sz="2400" dirty="0"/>
              <a:t>Translate → Summarize → Respond → Format → Save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538757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Multi-Input, Multi-Output Chains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956" y="1628575"/>
            <a:ext cx="8882302" cy="5004981"/>
          </a:xfrm>
        </p:spPr>
        <p:txBody>
          <a:bodyPr>
            <a:normAutofit/>
          </a:bodyPr>
          <a:lstStyle/>
          <a:p>
            <a:r>
              <a:rPr lang="en-US" sz="2400" dirty="0"/>
              <a:t>Sometimes chains:</a:t>
            </a:r>
          </a:p>
          <a:p>
            <a:r>
              <a:rPr lang="en-US" sz="2400" dirty="0"/>
              <a:t>Need multiple inputs</a:t>
            </a:r>
          </a:p>
          <a:p>
            <a:r>
              <a:rPr lang="en-US" sz="2400" dirty="0"/>
              <a:t>Produce multiple outputs</a:t>
            </a:r>
          </a:p>
          <a:p>
            <a:r>
              <a:rPr lang="en-US" sz="2400" dirty="0"/>
              <a:t>Example:</a:t>
            </a:r>
          </a:p>
          <a:p>
            <a:r>
              <a:rPr lang="en-US" sz="2400" dirty="0"/>
              <a:t>Translate review</a:t>
            </a:r>
          </a:p>
          <a:p>
            <a:r>
              <a:rPr lang="en-US" sz="2400" dirty="0"/>
              <a:t>Detect language</a:t>
            </a:r>
          </a:p>
          <a:p>
            <a:r>
              <a:rPr lang="en-US" sz="2400" dirty="0"/>
              <a:t>Summarize</a:t>
            </a:r>
          </a:p>
          <a:p>
            <a:r>
              <a:rPr lang="en-US" sz="2400" dirty="0"/>
              <a:t>Generate reply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70702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Rule: Variable Names Must Match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This is critical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If one step outputs: "</a:t>
            </a:r>
            <a:r>
              <a:rPr lang="en-US" sz="2400" dirty="0" err="1" smtClean="0"/>
              <a:t>english_review</a:t>
            </a:r>
            <a:r>
              <a:rPr lang="en-US" sz="2400" dirty="0" smtClean="0"/>
              <a:t>“</a:t>
            </a:r>
          </a:p>
          <a:p>
            <a:r>
              <a:rPr lang="en-US" sz="2400" dirty="0"/>
              <a:t>Then the next step must use: {</a:t>
            </a:r>
            <a:r>
              <a:rPr lang="en-US" sz="2400" dirty="0" err="1"/>
              <a:t>english_review</a:t>
            </a:r>
            <a:r>
              <a:rPr lang="en-US" sz="2400" dirty="0"/>
              <a:t>}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6395364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Router Chains (Decision-Based Chains)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77334" y="1363375"/>
            <a:ext cx="578395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Sometimes we don’t want linear flow.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want: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input is physics → use physics chain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input is math → use math chain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Else → use default</a:t>
            </a:r>
          </a:p>
        </p:txBody>
      </p:sp>
    </p:spTree>
    <p:extLst>
      <p:ext uri="{BB962C8B-B14F-4D97-AF65-F5344CB8AC3E}">
        <p14:creationId xmlns:p14="http://schemas.microsoft.com/office/powerpoint/2010/main" val="407729592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Concept: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62320"/>
            <a:ext cx="8596668" cy="3880773"/>
          </a:xfrm>
        </p:spPr>
        <p:txBody>
          <a:bodyPr>
            <a:normAutofit/>
          </a:bodyPr>
          <a:lstStyle/>
          <a:p>
            <a:r>
              <a:rPr lang="en-US" sz="2400" b="1" dirty="0"/>
              <a:t>Routing = Let an LLM </a:t>
            </a:r>
            <a:r>
              <a:rPr lang="en-US" sz="2400" b="1" dirty="0" smtClean="0"/>
              <a:t>decide </a:t>
            </a:r>
            <a:r>
              <a:rPr lang="en-US" sz="2400" b="1" dirty="0"/>
              <a:t>which chain to use</a:t>
            </a:r>
            <a:r>
              <a:rPr lang="en-US" sz="2400" b="1" dirty="0" smtClean="0"/>
              <a:t>.</a:t>
            </a:r>
          </a:p>
          <a:p>
            <a:r>
              <a:rPr lang="en-US" sz="2400" dirty="0"/>
              <a:t>Modern Way: </a:t>
            </a:r>
            <a:r>
              <a:rPr lang="en-US" sz="2400" dirty="0" smtClean="0"/>
              <a:t>Branching</a:t>
            </a:r>
          </a:p>
          <a:p>
            <a:r>
              <a:rPr lang="en-US" sz="2400" dirty="0" err="1"/>
              <a:t>LangChain</a:t>
            </a:r>
            <a:r>
              <a:rPr lang="en-US" sz="2400" dirty="0"/>
              <a:t> now uses </a:t>
            </a:r>
            <a:r>
              <a:rPr lang="en-US" sz="2400" b="1" dirty="0" err="1"/>
              <a:t>RunnableBranch</a:t>
            </a:r>
            <a:r>
              <a:rPr lang="en-US" sz="2400" dirty="0"/>
              <a:t>.</a:t>
            </a:r>
          </a:p>
          <a:p>
            <a:r>
              <a:rPr lang="en-US" sz="2400" dirty="0"/>
              <a:t>If physics → </a:t>
            </a:r>
            <a:r>
              <a:rPr lang="en-US" sz="2400" dirty="0" err="1"/>
              <a:t>physics_chain</a:t>
            </a:r>
            <a:endParaRPr lang="en-US" sz="2400" dirty="0"/>
          </a:p>
          <a:p>
            <a:r>
              <a:rPr lang="en-US" sz="2400" dirty="0"/>
              <a:t>If math → </a:t>
            </a:r>
            <a:r>
              <a:rPr lang="en-US" sz="2400" dirty="0" err="1"/>
              <a:t>math_chain</a:t>
            </a:r>
            <a:endParaRPr lang="en-US" sz="2400" dirty="0"/>
          </a:p>
          <a:p>
            <a:r>
              <a:rPr lang="en-US" sz="2400" dirty="0"/>
              <a:t>Else → </a:t>
            </a:r>
            <a:r>
              <a:rPr lang="en-US" sz="2400" dirty="0" err="1"/>
              <a:t>default_chain</a:t>
            </a:r>
            <a:endParaRPr lang="en-US" sz="2400" dirty="0"/>
          </a:p>
          <a:p>
            <a:endParaRPr lang="en-US" sz="2400" dirty="0" smtClean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9363880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712" y="1578698"/>
            <a:ext cx="8596668" cy="3880773"/>
          </a:xfrm>
        </p:spPr>
        <p:txBody>
          <a:bodyPr/>
          <a:lstStyle/>
          <a:p>
            <a:r>
              <a:rPr lang="en-US" sz="2400" dirty="0"/>
              <a:t>This enables:</a:t>
            </a:r>
          </a:p>
          <a:p>
            <a:r>
              <a:rPr lang="en-US" sz="2400" dirty="0"/>
              <a:t>Subject-specific bots</a:t>
            </a:r>
          </a:p>
          <a:p>
            <a:r>
              <a:rPr lang="en-US" sz="2400" dirty="0"/>
              <a:t>Tool routing</a:t>
            </a:r>
          </a:p>
          <a:p>
            <a:r>
              <a:rPr lang="en-US" sz="2400" dirty="0"/>
              <a:t>Multi-agent systems</a:t>
            </a:r>
          </a:p>
          <a:p>
            <a:r>
              <a:rPr lang="en-US" sz="2400" dirty="0"/>
              <a:t>Specialized logic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601585" y="4720807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            ┌── </a:t>
            </a:r>
            <a:r>
              <a:rPr lang="en-US" dirty="0"/>
              <a:t>Physics Chain</a:t>
            </a:r>
          </a:p>
          <a:p>
            <a:r>
              <a:rPr lang="en-US" dirty="0"/>
              <a:t>Input ──► Router ├── Math Chain</a:t>
            </a:r>
          </a:p>
          <a:p>
            <a:r>
              <a:rPr lang="en-US" dirty="0"/>
              <a:t>             ├── History Chain</a:t>
            </a:r>
          </a:p>
          <a:p>
            <a:r>
              <a:rPr lang="en-US" dirty="0"/>
              <a:t>             ├── CS Chain</a:t>
            </a:r>
          </a:p>
          <a:p>
            <a:r>
              <a:rPr lang="en-US" dirty="0"/>
              <a:t>             └── Default Chain</a:t>
            </a:r>
          </a:p>
        </p:txBody>
      </p:sp>
    </p:spTree>
    <p:extLst>
      <p:ext uri="{BB962C8B-B14F-4D97-AF65-F5344CB8AC3E}">
        <p14:creationId xmlns:p14="http://schemas.microsoft.com/office/powerpoint/2010/main" val="26260236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509847"/>
            <a:ext cx="8596668" cy="1320800"/>
          </a:xfrm>
        </p:spPr>
        <p:txBody>
          <a:bodyPr/>
          <a:lstStyle/>
          <a:p>
            <a:r>
              <a:rPr lang="en-US" b="1" dirty="0"/>
              <a:t>Why This Is Powerful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11702"/>
            <a:ext cx="8596668" cy="3880773"/>
          </a:xfrm>
        </p:spPr>
        <p:txBody>
          <a:bodyPr/>
          <a:lstStyle/>
          <a:p>
            <a:r>
              <a:rPr lang="en-US" sz="2400" b="1" dirty="0"/>
              <a:t>You can build:</a:t>
            </a:r>
          </a:p>
          <a:p>
            <a:r>
              <a:rPr lang="en-US" sz="2400" b="1" dirty="0"/>
              <a:t>Smart tutors</a:t>
            </a:r>
          </a:p>
          <a:p>
            <a:r>
              <a:rPr lang="en-US" sz="2400" b="1" dirty="0"/>
              <a:t>Domain assistants</a:t>
            </a:r>
          </a:p>
          <a:p>
            <a:r>
              <a:rPr lang="en-US" sz="2400" b="1" dirty="0"/>
              <a:t>Multi-skill bots</a:t>
            </a:r>
          </a:p>
          <a:p>
            <a:r>
              <a:rPr lang="en-US" sz="2400" b="1" dirty="0"/>
              <a:t>Enterprise workflows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398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Chains Over </a:t>
            </a:r>
            <a:r>
              <a:rPr lang="en-US" b="1" dirty="0" err="1"/>
              <a:t>DataFrames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44953"/>
            <a:ext cx="8596668" cy="3880773"/>
          </a:xfrm>
        </p:spPr>
        <p:txBody>
          <a:bodyPr/>
          <a:lstStyle/>
          <a:p>
            <a:r>
              <a:rPr lang="en-US" sz="2400" dirty="0"/>
              <a:t>Chains can run on:</a:t>
            </a:r>
          </a:p>
          <a:p>
            <a:r>
              <a:rPr lang="en-US" sz="2400" dirty="0"/>
              <a:t>Lists</a:t>
            </a:r>
          </a:p>
          <a:p>
            <a:r>
              <a:rPr lang="en-US" sz="2400" dirty="0" err="1"/>
              <a:t>DataFrames</a:t>
            </a:r>
            <a:endParaRPr lang="en-US" sz="2400" dirty="0"/>
          </a:p>
          <a:p>
            <a:r>
              <a:rPr lang="en-US" sz="2400" dirty="0"/>
              <a:t>CSVs</a:t>
            </a:r>
          </a:p>
          <a:p>
            <a:r>
              <a:rPr lang="en-US" sz="2400" dirty="0"/>
              <a:t>Databases</a:t>
            </a:r>
          </a:p>
          <a:p>
            <a:r>
              <a:rPr lang="en-US" sz="2400" dirty="0"/>
              <a:t>APIs</a:t>
            </a:r>
          </a:p>
          <a:p>
            <a:r>
              <a:rPr lang="en-US" sz="2400" dirty="0"/>
              <a:t>They can be batch-processed.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29591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Chains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348401"/>
              </p:ext>
            </p:extLst>
          </p:nvPr>
        </p:nvGraphicFramePr>
        <p:xfrm>
          <a:off x="677332" y="1690612"/>
          <a:ext cx="8317038" cy="4726813"/>
        </p:xfrm>
        <a:graphic>
          <a:graphicData uri="http://schemas.openxmlformats.org/drawingml/2006/table">
            <a:tbl>
              <a:tblPr/>
              <a:tblGrid>
                <a:gridCol w="4158519"/>
                <a:gridCol w="4158519"/>
              </a:tblGrid>
              <a:tr h="675259">
                <a:tc>
                  <a:txBody>
                    <a:bodyPr/>
                    <a:lstStyle/>
                    <a:p>
                      <a:r>
                        <a:rPr lang="en-US" sz="24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5259">
                <a:tc>
                  <a:txBody>
                    <a:bodyPr/>
                    <a:lstStyle/>
                    <a:p>
                      <a:r>
                        <a:rPr lang="en-US" sz="2400" dirty="0"/>
                        <a:t>Basic Chain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Prompt → LLM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5259">
                <a:tc>
                  <a:txBody>
                    <a:bodyPr/>
                    <a:lstStyle/>
                    <a:p>
                      <a:r>
                        <a:rPr lang="en-US" sz="2400" dirty="0"/>
                        <a:t>Sequential Chain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Step-by-step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5259">
                <a:tc>
                  <a:txBody>
                    <a:bodyPr/>
                    <a:lstStyle/>
                    <a:p>
                      <a:r>
                        <a:rPr lang="en-US" sz="2400" dirty="0"/>
                        <a:t>Multi-step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Many inputs/outputs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5259">
                <a:tc>
                  <a:txBody>
                    <a:bodyPr/>
                    <a:lstStyle/>
                    <a:p>
                      <a:r>
                        <a:rPr lang="en-US" sz="2400"/>
                        <a:t>Router Chain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Decision-based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5259">
                <a:tc>
                  <a:txBody>
                    <a:bodyPr/>
                    <a:lstStyle/>
                    <a:p>
                      <a:r>
                        <a:rPr lang="en-US" sz="2400"/>
                        <a:t>Tool Chains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Tool calling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5259">
                <a:tc>
                  <a:txBody>
                    <a:bodyPr/>
                    <a:lstStyle/>
                    <a:p>
                      <a:r>
                        <a:rPr lang="en-US" sz="2400"/>
                        <a:t>Agent Chains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Autonomous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12521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One-Line Exam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A chain in </a:t>
            </a:r>
            <a:r>
              <a:rPr lang="en-US" sz="2800" b="1" dirty="0" err="1"/>
              <a:t>LangChain</a:t>
            </a:r>
            <a:r>
              <a:rPr lang="en-US" sz="2800" b="1" dirty="0"/>
              <a:t> is a </a:t>
            </a:r>
            <a:r>
              <a:rPr lang="en-US" sz="2800" b="1" dirty="0" err="1"/>
              <a:t>composable</a:t>
            </a:r>
            <a:r>
              <a:rPr lang="en-US" sz="2800" b="1" dirty="0"/>
              <a:t> workflow that connects prompts, models, and logic to perform multi-step reasoning or processing.</a:t>
            </a:r>
          </a:p>
        </p:txBody>
      </p:sp>
    </p:spTree>
    <p:extLst>
      <p:ext uri="{BB962C8B-B14F-4D97-AF65-F5344CB8AC3E}">
        <p14:creationId xmlns:p14="http://schemas.microsoft.com/office/powerpoint/2010/main" val="355008696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 Answering Over Documents (RAG)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66075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1320800"/>
          </a:xfrm>
        </p:spPr>
        <p:txBody>
          <a:bodyPr/>
          <a:lstStyle/>
          <a:p>
            <a:r>
              <a:rPr lang="en-US" b="1" dirty="0"/>
              <a:t>Why This Is Important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11325" y="948690"/>
            <a:ext cx="9480819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of the most powerful real-world applications of LLMs is: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Answering questions over private or proprietary documents.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PDFs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Websites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 intranet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papers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catalogs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Policies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59544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Core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61825"/>
            <a:ext cx="8596668" cy="3880773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LLMs like GPT: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❌ Do NOT know your private documents</a:t>
            </a:r>
            <a:br>
              <a:rPr lang="en-US" sz="2400" dirty="0"/>
            </a:br>
            <a:r>
              <a:rPr lang="en-US" sz="2400" dirty="0"/>
              <a:t>❌ Have limited context window</a:t>
            </a:r>
            <a:br>
              <a:rPr lang="en-US" sz="2400" dirty="0"/>
            </a:br>
            <a:r>
              <a:rPr lang="en-US" sz="2400" dirty="0"/>
              <a:t>❌ Cannot read 500-page PDFs at once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So how do we make them answer questions over </a:t>
            </a:r>
            <a:r>
              <a:rPr lang="en-US" sz="2400" b="1" dirty="0"/>
              <a:t>our own data</a:t>
            </a:r>
            <a:r>
              <a:rPr lang="en-US" sz="2400" dirty="0"/>
              <a:t>?</a:t>
            </a:r>
          </a:p>
          <a:p>
            <a:pPr>
              <a:lnSpc>
                <a:spcPct val="20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3818500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Solution</a:t>
            </a:r>
            <a:r>
              <a:rPr lang="en-US" b="1" dirty="0" smtClean="0"/>
              <a:t>: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508732"/>
            <a:ext cx="894880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LangChain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implements a technique called: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Retrieval-Augmented Generation (RAG)</a:t>
            </a:r>
          </a:p>
        </p:txBody>
      </p:sp>
    </p:spTree>
    <p:extLst>
      <p:ext uri="{BB962C8B-B14F-4D97-AF65-F5344CB8AC3E}">
        <p14:creationId xmlns:p14="http://schemas.microsoft.com/office/powerpoint/2010/main" val="128314816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986443" y="1930400"/>
            <a:ext cx="794142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User Question</a:t>
            </a:r>
          </a:p>
          <a:p>
            <a:r>
              <a:rPr lang="en-US" sz="2400" b="1" dirty="0"/>
              <a:t>     ↓</a:t>
            </a:r>
          </a:p>
          <a:p>
            <a:r>
              <a:rPr lang="en-US" sz="2400" b="1" dirty="0"/>
              <a:t>Embedding of Question</a:t>
            </a:r>
          </a:p>
          <a:p>
            <a:r>
              <a:rPr lang="en-US" sz="2400" b="1" dirty="0"/>
              <a:t>     ↓</a:t>
            </a:r>
          </a:p>
          <a:p>
            <a:r>
              <a:rPr lang="en-US" sz="2400" b="1" dirty="0"/>
              <a:t>Vector Search</a:t>
            </a:r>
          </a:p>
          <a:p>
            <a:r>
              <a:rPr lang="en-US" sz="2400" b="1" dirty="0"/>
              <a:t>     ↓</a:t>
            </a:r>
          </a:p>
          <a:p>
            <a:r>
              <a:rPr lang="en-US" sz="2400" b="1" dirty="0"/>
              <a:t>Relevant Chunks Retrieved</a:t>
            </a:r>
          </a:p>
          <a:p>
            <a:r>
              <a:rPr lang="en-US" sz="2400" b="1" dirty="0"/>
              <a:t>     ↓</a:t>
            </a:r>
          </a:p>
          <a:p>
            <a:r>
              <a:rPr lang="en-US" sz="2400" b="1" dirty="0"/>
              <a:t>LLM Prompted with those chunks</a:t>
            </a:r>
          </a:p>
          <a:p>
            <a:r>
              <a:rPr lang="en-US" sz="2400" b="1" dirty="0"/>
              <a:t>     ↓</a:t>
            </a:r>
          </a:p>
          <a:p>
            <a:r>
              <a:rPr lang="en-US" sz="2400" b="1" dirty="0"/>
              <a:t>Final Answer</a:t>
            </a:r>
          </a:p>
        </p:txBody>
      </p:sp>
    </p:spTree>
    <p:extLst>
      <p:ext uri="{BB962C8B-B14F-4D97-AF65-F5344CB8AC3E}">
        <p14:creationId xmlns:p14="http://schemas.microsoft.com/office/powerpoint/2010/main" val="398472731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This is where </a:t>
            </a:r>
            <a:r>
              <a:rPr lang="en-US" b="1" dirty="0" err="1"/>
              <a:t>LangChain</a:t>
            </a:r>
            <a:r>
              <a:rPr lang="en-US" b="1" dirty="0"/>
              <a:t> becomes powerful.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510988"/>
              </p:ext>
            </p:extLst>
          </p:nvPr>
        </p:nvGraphicFramePr>
        <p:xfrm>
          <a:off x="810867" y="2089626"/>
          <a:ext cx="8596312" cy="4937760"/>
        </p:xfrm>
        <a:graphic>
          <a:graphicData uri="http://schemas.openxmlformats.org/drawingml/2006/table">
            <a:tbl>
              <a:tblPr/>
              <a:tblGrid>
                <a:gridCol w="3312246"/>
                <a:gridCol w="5284066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2400" b="1" dirty="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2400" b="1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2400" dirty="0" err="1"/>
                        <a:t>Embeddings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2400"/>
                        <a:t>Convert text → numbers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2400" dirty="0"/>
                        <a:t>Vector Store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2400"/>
                        <a:t>Store embeddings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2400" dirty="0"/>
                        <a:t>Retriever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2400"/>
                        <a:t>Fetch relevant 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2400"/>
                        <a:t>Document Loader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2400" dirty="0"/>
                        <a:t>Load PDFs, CSVs, </a:t>
                      </a:r>
                      <a:r>
                        <a:rPr lang="en-US" sz="2400" dirty="0" err="1"/>
                        <a:t>etc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2400"/>
                        <a:t>RetrievalQA Chain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2400" dirty="0"/>
                        <a:t>Combine everything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256722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Are </a:t>
            </a:r>
            <a:r>
              <a:rPr lang="en-US" b="1" dirty="0" err="1"/>
              <a:t>Embeddings</a:t>
            </a:r>
            <a:r>
              <a:rPr lang="en-US" b="1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704" y="1512196"/>
            <a:ext cx="8746297" cy="5345804"/>
          </a:xfrm>
        </p:spPr>
        <p:txBody>
          <a:bodyPr>
            <a:normAutofit/>
          </a:bodyPr>
          <a:lstStyle/>
          <a:p>
            <a:r>
              <a:rPr lang="en-US" sz="2600" dirty="0" err="1"/>
              <a:t>Embeddings</a:t>
            </a:r>
            <a:r>
              <a:rPr lang="en-US" sz="2600" dirty="0"/>
              <a:t> = numerical representation of text.</a:t>
            </a:r>
          </a:p>
          <a:p>
            <a:r>
              <a:rPr lang="en-US" sz="2600" dirty="0"/>
              <a:t>They capture </a:t>
            </a:r>
            <a:r>
              <a:rPr lang="en-US" sz="2600" b="1" dirty="0"/>
              <a:t>meaning</a:t>
            </a:r>
            <a:r>
              <a:rPr lang="en-US" sz="2600" dirty="0"/>
              <a:t>, not just words.</a:t>
            </a:r>
          </a:p>
          <a:p>
            <a:r>
              <a:rPr lang="en-US" sz="2600" b="1" dirty="0"/>
              <a:t>Example</a:t>
            </a:r>
          </a:p>
          <a:p>
            <a:r>
              <a:rPr lang="en-US" sz="2600" dirty="0"/>
              <a:t>Sentences:</a:t>
            </a:r>
          </a:p>
          <a:p>
            <a:r>
              <a:rPr lang="en-US" sz="2600" dirty="0"/>
              <a:t>"I love dogs"</a:t>
            </a:r>
          </a:p>
          <a:p>
            <a:r>
              <a:rPr lang="en-US" sz="2600" dirty="0"/>
              <a:t>"I adore puppies"</a:t>
            </a:r>
          </a:p>
          <a:p>
            <a:r>
              <a:rPr lang="en-US" sz="2600" dirty="0"/>
              <a:t>"I drive a car"</a:t>
            </a:r>
          </a:p>
          <a:p>
            <a:r>
              <a:rPr lang="en-US" sz="2600" dirty="0" err="1"/>
              <a:t>Embeddings</a:t>
            </a:r>
            <a:r>
              <a:rPr lang="en-US" sz="2600" dirty="0"/>
              <a:t>:</a:t>
            </a:r>
          </a:p>
          <a:p>
            <a:r>
              <a:rPr lang="en-US" sz="2600" dirty="0"/>
              <a:t>(1) and (2) → close in vector space</a:t>
            </a:r>
          </a:p>
          <a:p>
            <a:r>
              <a:rPr lang="en-US" sz="2600" dirty="0"/>
              <a:t>(3) → far away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1932787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This Matters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703477"/>
            <a:ext cx="603883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lets us do: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 search, not keyword search</a:t>
            </a:r>
          </a:p>
        </p:txBody>
      </p:sp>
    </p:spTree>
    <p:extLst>
      <p:ext uri="{BB962C8B-B14F-4D97-AF65-F5344CB8AC3E}">
        <p14:creationId xmlns:p14="http://schemas.microsoft.com/office/powerpoint/2010/main" val="412282084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Vector Store?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45447"/>
            <a:ext cx="8596668" cy="3880773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A vector store: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Stores </a:t>
            </a:r>
            <a:r>
              <a:rPr lang="en-US" sz="2400" dirty="0" err="1"/>
              <a:t>embeddings</a:t>
            </a:r>
            <a:endParaRPr lang="en-US" sz="2400" dirty="0"/>
          </a:p>
          <a:p>
            <a:pPr>
              <a:lnSpc>
                <a:spcPct val="200000"/>
              </a:lnSpc>
            </a:pPr>
            <a:r>
              <a:rPr lang="en-US" sz="2400" dirty="0"/>
              <a:t>Supports similarity search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Returns relevant chunks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Think of it as a </a:t>
            </a:r>
            <a:r>
              <a:rPr lang="en-US" sz="2400" b="1" dirty="0"/>
              <a:t>semantic database</a:t>
            </a:r>
            <a:r>
              <a:rPr lang="en-US" sz="2400" dirty="0"/>
              <a:t>.</a:t>
            </a:r>
          </a:p>
          <a:p>
            <a:pPr>
              <a:lnSpc>
                <a:spcPct val="20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1512394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93469"/>
            <a:ext cx="8596668" cy="1320800"/>
          </a:xfrm>
        </p:spPr>
        <p:txBody>
          <a:bodyPr/>
          <a:lstStyle/>
          <a:p>
            <a:r>
              <a:rPr lang="en-US" b="1" dirty="0"/>
              <a:t>Chunking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14269"/>
            <a:ext cx="8596668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Large documents are broken into </a:t>
            </a:r>
            <a:r>
              <a:rPr lang="en-US" sz="2400" b="1" dirty="0"/>
              <a:t>small chunks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Why?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❌ Can't send full document to </a:t>
            </a:r>
            <a:r>
              <a:rPr lang="en-US" sz="2400" dirty="0" smtClean="0"/>
              <a:t>LLM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✅ </a:t>
            </a:r>
            <a:r>
              <a:rPr lang="en-US" sz="2400" dirty="0"/>
              <a:t>Only send relevant parts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0034250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High-Level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78698"/>
            <a:ext cx="9647073" cy="3880773"/>
          </a:xfrm>
        </p:spPr>
        <p:txBody>
          <a:bodyPr/>
          <a:lstStyle/>
          <a:p>
            <a:r>
              <a:rPr lang="en-US" sz="2400" dirty="0"/>
              <a:t>Indexing </a:t>
            </a:r>
            <a:r>
              <a:rPr lang="en-US" sz="2400" dirty="0" smtClean="0"/>
              <a:t>Phase</a:t>
            </a:r>
          </a:p>
          <a:p>
            <a:r>
              <a:rPr lang="en-US" sz="2400" dirty="0" smtClean="0"/>
              <a:t>Documents </a:t>
            </a:r>
            <a:r>
              <a:rPr lang="en-US" sz="2400" dirty="0"/>
              <a:t>→ Chunks → </a:t>
            </a:r>
            <a:r>
              <a:rPr lang="en-US" sz="2400" dirty="0" err="1"/>
              <a:t>Embeddings</a:t>
            </a:r>
            <a:r>
              <a:rPr lang="en-US" sz="2400" dirty="0"/>
              <a:t> → Vector </a:t>
            </a:r>
            <a:r>
              <a:rPr lang="en-US" sz="2400" dirty="0" smtClean="0"/>
              <a:t>Store</a:t>
            </a:r>
          </a:p>
          <a:p>
            <a:r>
              <a:rPr lang="en-US" sz="2400" dirty="0"/>
              <a:t>Query </a:t>
            </a:r>
            <a:r>
              <a:rPr lang="en-US" sz="2400" dirty="0" smtClean="0"/>
              <a:t>Phase</a:t>
            </a:r>
          </a:p>
          <a:p>
            <a:r>
              <a:rPr lang="en-US" sz="2400" dirty="0"/>
              <a:t>User Question → Embedding → Similarity Search → Top Chunks → LLM → Answer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9269362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Modern </a:t>
            </a:r>
            <a:r>
              <a:rPr lang="en-US" b="1" dirty="0" err="1"/>
              <a:t>LangChain</a:t>
            </a:r>
            <a:r>
              <a:rPr lang="en-US" b="1" dirty="0"/>
              <a:t>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95077"/>
            <a:ext cx="8596668" cy="3880773"/>
          </a:xfrm>
        </p:spPr>
        <p:txBody>
          <a:bodyPr/>
          <a:lstStyle/>
          <a:p>
            <a:r>
              <a:rPr lang="en-US" sz="2400" dirty="0"/>
              <a:t>pip install </a:t>
            </a:r>
            <a:r>
              <a:rPr lang="en-US" sz="2400" dirty="0" err="1"/>
              <a:t>langchain</a:t>
            </a:r>
            <a:r>
              <a:rPr lang="en-US" sz="2400" dirty="0"/>
              <a:t> </a:t>
            </a:r>
            <a:r>
              <a:rPr lang="en-US" sz="2400" dirty="0" err="1"/>
              <a:t>langchain-openai</a:t>
            </a:r>
            <a:r>
              <a:rPr lang="en-US" sz="2400" dirty="0"/>
              <a:t> </a:t>
            </a:r>
            <a:r>
              <a:rPr lang="en-US" sz="2400" dirty="0" err="1"/>
              <a:t>faiss-cpu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27325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Loading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CSV </a:t>
            </a:r>
            <a:r>
              <a:rPr lang="en-US" sz="2400" dirty="0" smtClean="0"/>
              <a:t>Example</a:t>
            </a:r>
          </a:p>
          <a:p>
            <a:r>
              <a:rPr lang="en-US" sz="2400" dirty="0"/>
              <a:t>from </a:t>
            </a:r>
            <a:r>
              <a:rPr lang="en-US" sz="2400" dirty="0" err="1"/>
              <a:t>langchain.document_loaders</a:t>
            </a:r>
            <a:r>
              <a:rPr lang="en-US" sz="2400" dirty="0"/>
              <a:t> import </a:t>
            </a:r>
            <a:r>
              <a:rPr lang="en-US" sz="2400" dirty="0" err="1"/>
              <a:t>CSVLoader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loader = </a:t>
            </a:r>
            <a:r>
              <a:rPr lang="en-US" sz="2400" dirty="0" err="1"/>
              <a:t>CSVLoader</a:t>
            </a:r>
            <a:r>
              <a:rPr lang="en-US" sz="2400" dirty="0"/>
              <a:t>(</a:t>
            </a:r>
            <a:r>
              <a:rPr lang="en-US" sz="2400" dirty="0" err="1"/>
              <a:t>file_path</a:t>
            </a:r>
            <a:r>
              <a:rPr lang="en-US" sz="2400" dirty="0"/>
              <a:t>="products.csv")</a:t>
            </a:r>
          </a:p>
          <a:p>
            <a:r>
              <a:rPr lang="en-US" sz="2400" dirty="0"/>
              <a:t>documents = </a:t>
            </a:r>
            <a:r>
              <a:rPr lang="en-US" sz="2400" dirty="0" err="1"/>
              <a:t>loader.load</a:t>
            </a:r>
            <a:r>
              <a:rPr lang="en-US" sz="2400" dirty="0"/>
              <a:t>()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7339235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</a:t>
            </a:r>
            <a:r>
              <a:rPr lang="en-US" b="1" dirty="0" err="1"/>
              <a:t>Embeddings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from </a:t>
            </a:r>
            <a:r>
              <a:rPr lang="en-US" sz="2400" b="1" dirty="0" err="1"/>
              <a:t>langchain_openai</a:t>
            </a:r>
            <a:r>
              <a:rPr lang="en-US" sz="2400" b="1" dirty="0"/>
              <a:t> import </a:t>
            </a:r>
            <a:r>
              <a:rPr lang="en-US" sz="2400" b="1" dirty="0" err="1"/>
              <a:t>OpenAIEmbeddings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400" b="1" dirty="0" err="1"/>
              <a:t>embeddings</a:t>
            </a:r>
            <a:r>
              <a:rPr lang="en-US" sz="2400" b="1" dirty="0"/>
              <a:t> = </a:t>
            </a:r>
            <a:r>
              <a:rPr lang="en-US" sz="2400" b="1" dirty="0" err="1"/>
              <a:t>OpenAIEmbeddings</a:t>
            </a:r>
            <a:r>
              <a:rPr lang="en-US" sz="2400" b="1" dirty="0"/>
              <a:t>()</a:t>
            </a: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6756197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Vector Store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from </a:t>
            </a:r>
            <a:r>
              <a:rPr lang="en-US" sz="2400" b="1" dirty="0" err="1"/>
              <a:t>langchain.vectorstores</a:t>
            </a:r>
            <a:r>
              <a:rPr lang="en-US" sz="2400" b="1" dirty="0"/>
              <a:t> import FAISS</a:t>
            </a:r>
          </a:p>
          <a:p>
            <a:endParaRPr lang="en-US" sz="2400" b="1" dirty="0"/>
          </a:p>
          <a:p>
            <a:r>
              <a:rPr lang="en-US" sz="2400" b="1" dirty="0" err="1"/>
              <a:t>vectorstore</a:t>
            </a:r>
            <a:r>
              <a:rPr lang="en-US" sz="2400" b="1" dirty="0"/>
              <a:t> = </a:t>
            </a:r>
            <a:r>
              <a:rPr lang="en-US" sz="2400" b="1" dirty="0" err="1"/>
              <a:t>FAISS.from_documents</a:t>
            </a:r>
            <a:r>
              <a:rPr lang="en-US" sz="2400" b="1" dirty="0"/>
              <a:t>(documents, </a:t>
            </a:r>
            <a:r>
              <a:rPr lang="en-US" sz="2400" b="1" dirty="0" err="1"/>
              <a:t>embeddings</a:t>
            </a:r>
            <a:r>
              <a:rPr lang="en-US" sz="2400" b="1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4746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Similarity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query = "Shirt with sun protection"</a:t>
            </a:r>
          </a:p>
          <a:p>
            <a:r>
              <a:rPr lang="en-US" sz="2400" dirty="0"/>
              <a:t>docs = </a:t>
            </a:r>
            <a:r>
              <a:rPr lang="en-US" sz="2400" dirty="0" err="1"/>
              <a:t>vectorstore.similarity_search</a:t>
            </a:r>
            <a:r>
              <a:rPr lang="en-US" sz="2400" dirty="0"/>
              <a:t>(query)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1704330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Retriever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11949"/>
            <a:ext cx="8596668" cy="3880773"/>
          </a:xfrm>
        </p:spPr>
        <p:txBody>
          <a:bodyPr>
            <a:normAutofit/>
          </a:bodyPr>
          <a:lstStyle/>
          <a:p>
            <a:r>
              <a:rPr lang="en-US" sz="2400" dirty="0"/>
              <a:t>A retriever is a wrapper around the vector store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retriever = </a:t>
            </a:r>
            <a:r>
              <a:rPr lang="en-US" sz="2400" dirty="0" err="1"/>
              <a:t>vectorstore.as_retriever</a:t>
            </a:r>
            <a:r>
              <a:rPr lang="en-US" sz="2400" dirty="0"/>
              <a:t>()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9051806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451" y="0"/>
            <a:ext cx="8596668" cy="1320800"/>
          </a:xfrm>
        </p:spPr>
        <p:txBody>
          <a:bodyPr/>
          <a:lstStyle/>
          <a:p>
            <a:r>
              <a:rPr lang="en-US" b="1" dirty="0"/>
              <a:t>Manual QA (Without Chain)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331" y="1142538"/>
            <a:ext cx="8596668" cy="3880773"/>
          </a:xfrm>
        </p:spPr>
        <p:txBody>
          <a:bodyPr>
            <a:noAutofit/>
          </a:bodyPr>
          <a:lstStyle/>
          <a:p>
            <a:r>
              <a:rPr lang="en-US" sz="2400" dirty="0"/>
              <a:t>If done manually</a:t>
            </a:r>
            <a:r>
              <a:rPr lang="en-US" sz="2400" dirty="0" smtClean="0"/>
              <a:t>:</a:t>
            </a:r>
          </a:p>
          <a:p>
            <a:r>
              <a:rPr lang="en-US" sz="2400" dirty="0"/>
              <a:t>context = "\</a:t>
            </a:r>
            <a:r>
              <a:rPr lang="en-US" sz="2400" dirty="0" err="1"/>
              <a:t>n".join</a:t>
            </a:r>
            <a:r>
              <a:rPr lang="en-US" sz="2400" dirty="0"/>
              <a:t>([</a:t>
            </a:r>
            <a:r>
              <a:rPr lang="en-US" sz="2400" dirty="0" err="1"/>
              <a:t>doc.page_content</a:t>
            </a:r>
            <a:r>
              <a:rPr lang="en-US" sz="2400" dirty="0"/>
              <a:t> for doc in docs])</a:t>
            </a:r>
          </a:p>
          <a:p>
            <a:endParaRPr lang="en-US" sz="2400" dirty="0"/>
          </a:p>
          <a:p>
            <a:r>
              <a:rPr lang="en-US" sz="2400" dirty="0"/>
              <a:t>prompt = f"""</a:t>
            </a:r>
          </a:p>
          <a:p>
            <a:pPr marL="0" indent="0">
              <a:buNone/>
            </a:pPr>
            <a:r>
              <a:rPr lang="en-US" sz="2400" dirty="0"/>
              <a:t>Answer the question using the context below:</a:t>
            </a:r>
          </a:p>
          <a:p>
            <a:pPr marL="0" indent="0">
              <a:buNone/>
            </a:pPr>
            <a:r>
              <a:rPr lang="en-US" sz="2400" dirty="0" smtClean="0"/>
              <a:t>Context:{</a:t>
            </a:r>
            <a:r>
              <a:rPr lang="en-US" sz="2400" dirty="0"/>
              <a:t>context}</a:t>
            </a:r>
          </a:p>
          <a:p>
            <a:pPr marL="0" indent="0">
              <a:buNone/>
            </a:pPr>
            <a:r>
              <a:rPr lang="en-US" sz="2400" dirty="0" smtClean="0"/>
              <a:t>Question</a:t>
            </a:r>
            <a:r>
              <a:rPr lang="en-US" sz="2400" dirty="0"/>
              <a:t>: {query}</a:t>
            </a:r>
          </a:p>
          <a:p>
            <a:pPr marL="0" indent="0">
              <a:buNone/>
            </a:pPr>
            <a:r>
              <a:rPr lang="en-US" sz="2400" dirty="0" smtClean="0"/>
              <a:t> """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 smtClean="0"/>
              <a:t>llm.invoke</a:t>
            </a:r>
            <a:r>
              <a:rPr lang="en-US" sz="2400" dirty="0" smtClean="0"/>
              <a:t>(prompt)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This is tedious.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0658756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584" y="257898"/>
            <a:ext cx="8596668" cy="1320800"/>
          </a:xfrm>
        </p:spPr>
        <p:txBody>
          <a:bodyPr/>
          <a:lstStyle/>
          <a:p>
            <a:r>
              <a:rPr lang="en-US" b="1" dirty="0" err="1"/>
              <a:t>RetrievalQA</a:t>
            </a:r>
            <a:r>
              <a:rPr lang="en-US" b="1" dirty="0"/>
              <a:t> Chain (Automated)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884" y="1063310"/>
            <a:ext cx="12128578" cy="5071484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LangChain</a:t>
            </a:r>
            <a:r>
              <a:rPr lang="en-US" sz="2400" dirty="0" smtClean="0"/>
              <a:t> </a:t>
            </a:r>
            <a:r>
              <a:rPr lang="en-US" sz="2400" dirty="0"/>
              <a:t>automates all of this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dirty="0"/>
              <a:t>from </a:t>
            </a:r>
            <a:r>
              <a:rPr lang="en-US" sz="2400" dirty="0" err="1"/>
              <a:t>langchain_openai</a:t>
            </a:r>
            <a:r>
              <a:rPr lang="en-US" sz="2400" dirty="0"/>
              <a:t> import </a:t>
            </a:r>
            <a:r>
              <a:rPr lang="en-US" sz="2400" dirty="0" err="1"/>
              <a:t>ChatOpenAI</a:t>
            </a:r>
            <a:endParaRPr lang="en-US" sz="2400" dirty="0"/>
          </a:p>
          <a:p>
            <a:r>
              <a:rPr lang="en-US" sz="2400" dirty="0"/>
              <a:t>from </a:t>
            </a:r>
            <a:r>
              <a:rPr lang="en-US" sz="2400" dirty="0" err="1"/>
              <a:t>langchain.chains</a:t>
            </a:r>
            <a:r>
              <a:rPr lang="en-US" sz="2400" dirty="0"/>
              <a:t> import </a:t>
            </a:r>
            <a:r>
              <a:rPr lang="en-US" sz="2400" dirty="0" err="1"/>
              <a:t>RetrievalQA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llm</a:t>
            </a:r>
            <a:r>
              <a:rPr lang="en-US" sz="2400" dirty="0"/>
              <a:t> = </a:t>
            </a:r>
            <a:r>
              <a:rPr lang="en-US" sz="2400" dirty="0" err="1"/>
              <a:t>ChatOpenAI</a:t>
            </a:r>
            <a:r>
              <a:rPr lang="en-US" sz="2400" dirty="0"/>
              <a:t>(temperature=0)</a:t>
            </a:r>
          </a:p>
          <a:p>
            <a:r>
              <a:rPr lang="en-US" sz="2400" dirty="0" err="1" smtClean="0"/>
              <a:t>qa_chain</a:t>
            </a:r>
            <a:r>
              <a:rPr lang="en-US" sz="2400" dirty="0" smtClean="0"/>
              <a:t> </a:t>
            </a:r>
            <a:r>
              <a:rPr lang="en-US" sz="2400" dirty="0"/>
              <a:t>= </a:t>
            </a:r>
            <a:r>
              <a:rPr lang="en-US" sz="2400" dirty="0" err="1" smtClean="0"/>
              <a:t>RetrievalQA.from_chain_type</a:t>
            </a:r>
            <a:r>
              <a:rPr lang="en-US" sz="2400" dirty="0" smtClean="0"/>
              <a:t>( </a:t>
            </a:r>
            <a:r>
              <a:rPr lang="en-US" sz="2400" dirty="0" err="1" smtClean="0"/>
              <a:t>llm</a:t>
            </a:r>
            <a:r>
              <a:rPr lang="en-US" sz="2400" dirty="0" smtClean="0"/>
              <a:t>=</a:t>
            </a:r>
            <a:r>
              <a:rPr lang="en-US" sz="2400" dirty="0" err="1" smtClean="0"/>
              <a:t>llm</a:t>
            </a:r>
            <a:r>
              <a:rPr lang="en-US" sz="2400" dirty="0" smtClean="0"/>
              <a:t>, retriever=retriever,   </a:t>
            </a:r>
            <a:r>
              <a:rPr lang="en-US" sz="2400" dirty="0" err="1"/>
              <a:t>chain_type</a:t>
            </a:r>
            <a:r>
              <a:rPr lang="en-US" sz="2400" dirty="0"/>
              <a:t>="stuff</a:t>
            </a:r>
            <a:r>
              <a:rPr lang="en-US" sz="2400" dirty="0" smtClean="0"/>
              <a:t>")</a:t>
            </a:r>
            <a:endParaRPr lang="en-US" sz="2400" dirty="0"/>
          </a:p>
          <a:p>
            <a:r>
              <a:rPr lang="en-US" sz="2400" dirty="0"/>
              <a:t>response = </a:t>
            </a:r>
            <a:r>
              <a:rPr lang="en-US" sz="2400" dirty="0" err="1"/>
              <a:t>qa_chain.invoke</a:t>
            </a:r>
            <a:r>
              <a:rPr lang="en-US" sz="2400" dirty="0"/>
              <a:t>({"query": query})</a:t>
            </a:r>
          </a:p>
          <a:p>
            <a:r>
              <a:rPr lang="en-US" sz="2400" dirty="0"/>
              <a:t>print(response["result"])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6347657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"Stuff" </a:t>
            </a:r>
            <a:r>
              <a:rPr lang="en-US" b="1" dirty="0" smtClean="0"/>
              <a:t>Means: </a:t>
            </a:r>
            <a:r>
              <a:rPr lang="en-US" dirty="0" smtClean="0"/>
              <a:t>Chain </a:t>
            </a:r>
            <a:r>
              <a:rPr lang="en-US" dirty="0"/>
              <a:t>types:</a:t>
            </a:r>
            <a:endParaRPr lang="en-US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021524"/>
              </p:ext>
            </p:extLst>
          </p:nvPr>
        </p:nvGraphicFramePr>
        <p:xfrm>
          <a:off x="461732" y="1581264"/>
          <a:ext cx="8466138" cy="3539375"/>
        </p:xfrm>
        <a:graphic>
          <a:graphicData uri="http://schemas.openxmlformats.org/drawingml/2006/table">
            <a:tbl>
              <a:tblPr/>
              <a:tblGrid>
                <a:gridCol w="4233069"/>
                <a:gridCol w="4233069"/>
              </a:tblGrid>
              <a:tr h="707875">
                <a:tc>
                  <a:txBody>
                    <a:bodyPr/>
                    <a:lstStyle/>
                    <a:p>
                      <a:r>
                        <a:rPr lang="en-US" sz="24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7875">
                <a:tc>
                  <a:txBody>
                    <a:bodyPr/>
                    <a:lstStyle/>
                    <a:p>
                      <a:r>
                        <a:rPr lang="en-US" sz="2400" dirty="0"/>
                        <a:t>stuff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Put all docs into one prompt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7875">
                <a:tc>
                  <a:txBody>
                    <a:bodyPr/>
                    <a:lstStyle/>
                    <a:p>
                      <a:r>
                        <a:rPr lang="en-US" sz="2400" dirty="0" err="1"/>
                        <a:t>map_reduce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Parallel + combine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7875">
                <a:tc>
                  <a:txBody>
                    <a:bodyPr/>
                    <a:lstStyle/>
                    <a:p>
                      <a:r>
                        <a:rPr lang="en-US" sz="2400"/>
                        <a:t>refine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Iterative improvement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7875">
                <a:tc>
                  <a:txBody>
                    <a:bodyPr/>
                    <a:lstStyle/>
                    <a:p>
                      <a:r>
                        <a:rPr lang="en-US" sz="2400"/>
                        <a:t>map_rerank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Score + select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11377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Stuff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11949"/>
            <a:ext cx="8596668" cy="3880773"/>
          </a:xfrm>
        </p:spPr>
        <p:txBody>
          <a:bodyPr/>
          <a:lstStyle/>
          <a:p>
            <a:r>
              <a:rPr lang="en-US" sz="2400" b="1" dirty="0"/>
              <a:t>All chunks → one prompt → one LLM </a:t>
            </a:r>
            <a:r>
              <a:rPr lang="en-US" sz="2400" b="1" dirty="0" smtClean="0"/>
              <a:t>call</a:t>
            </a:r>
          </a:p>
          <a:p>
            <a:r>
              <a:rPr lang="en-US" sz="2400" dirty="0"/>
              <a:t>Pros:</a:t>
            </a:r>
          </a:p>
          <a:p>
            <a:r>
              <a:rPr lang="en-US" sz="2400" dirty="0"/>
              <a:t>Cheap</a:t>
            </a:r>
          </a:p>
          <a:p>
            <a:r>
              <a:rPr lang="en-US" sz="2400" dirty="0"/>
              <a:t>Simple</a:t>
            </a:r>
          </a:p>
          <a:p>
            <a:r>
              <a:rPr lang="en-US" sz="2400" dirty="0"/>
              <a:t>Fast</a:t>
            </a:r>
          </a:p>
          <a:p>
            <a:r>
              <a:rPr lang="en-US" sz="2400" dirty="0"/>
              <a:t>Cons:</a:t>
            </a:r>
          </a:p>
          <a:p>
            <a:r>
              <a:rPr lang="en-US" sz="2400" dirty="0"/>
              <a:t>Limited by context size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30611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963" y="0"/>
            <a:ext cx="8596668" cy="1320800"/>
          </a:xfrm>
        </p:spPr>
        <p:txBody>
          <a:bodyPr/>
          <a:lstStyle/>
          <a:p>
            <a:r>
              <a:rPr lang="en-US" b="1" dirty="0"/>
              <a:t>Map-Reduce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207" y="1320800"/>
            <a:ext cx="8829424" cy="448959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Each chunk → LLM → partial answers</a:t>
            </a:r>
          </a:p>
          <a:p>
            <a:pPr marL="0" indent="0">
              <a:buNone/>
            </a:pPr>
            <a:r>
              <a:rPr lang="en-US" sz="2400" dirty="0" smtClean="0"/>
              <a:t>     ↓</a:t>
            </a: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   Another </a:t>
            </a:r>
            <a:r>
              <a:rPr lang="en-US" sz="2400" dirty="0"/>
              <a:t>LLM → combine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sz="2600" dirty="0"/>
              <a:t>Pros:</a:t>
            </a:r>
          </a:p>
          <a:p>
            <a:r>
              <a:rPr lang="en-US" sz="2600" dirty="0"/>
              <a:t>Scales to many documents</a:t>
            </a:r>
          </a:p>
          <a:p>
            <a:r>
              <a:rPr lang="en-US" sz="2600" dirty="0"/>
              <a:t>Parallelizable</a:t>
            </a:r>
          </a:p>
          <a:p>
            <a:r>
              <a:rPr lang="en-US" sz="2600" dirty="0"/>
              <a:t>Cons:</a:t>
            </a:r>
          </a:p>
          <a:p>
            <a:r>
              <a:rPr lang="en-US" sz="2600" dirty="0"/>
              <a:t>More expensive</a:t>
            </a:r>
          </a:p>
          <a:p>
            <a:r>
              <a:rPr lang="en-US" sz="2600" dirty="0"/>
              <a:t>More calls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13978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7705" y="141520"/>
            <a:ext cx="8596668" cy="872633"/>
          </a:xfrm>
        </p:spPr>
        <p:txBody>
          <a:bodyPr/>
          <a:lstStyle/>
          <a:p>
            <a:r>
              <a:rPr lang="en-US" b="1" dirty="0"/>
              <a:t>Refine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705" y="1163062"/>
            <a:ext cx="9314564" cy="4697411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Chunk1 → Answer</a:t>
            </a:r>
          </a:p>
          <a:p>
            <a:r>
              <a:rPr lang="en-US" sz="2400" dirty="0"/>
              <a:t>Chunk2 → Improve answer</a:t>
            </a:r>
          </a:p>
          <a:p>
            <a:r>
              <a:rPr lang="en-US" sz="2400" dirty="0"/>
              <a:t>Chunk3 → Improve answer</a:t>
            </a:r>
          </a:p>
          <a:p>
            <a:r>
              <a:rPr lang="en-US" dirty="0"/>
              <a:t>...</a:t>
            </a:r>
          </a:p>
          <a:p>
            <a:r>
              <a:rPr lang="en-US" sz="2600" dirty="0"/>
              <a:t>Pros:</a:t>
            </a:r>
          </a:p>
          <a:p>
            <a:r>
              <a:rPr lang="en-US" sz="2600" dirty="0"/>
              <a:t>High-quality answers</a:t>
            </a:r>
          </a:p>
          <a:p>
            <a:r>
              <a:rPr lang="en-US" sz="2600" dirty="0"/>
              <a:t>Cons:</a:t>
            </a:r>
          </a:p>
          <a:p>
            <a:r>
              <a:rPr lang="en-US" sz="2600" dirty="0"/>
              <a:t>Slow</a:t>
            </a:r>
          </a:p>
          <a:p>
            <a:r>
              <a:rPr lang="en-US" sz="2600" dirty="0"/>
              <a:t>Sequential</a:t>
            </a:r>
          </a:p>
          <a:p>
            <a:r>
              <a:rPr lang="en-US" sz="2600" dirty="0"/>
              <a:t>Expensive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29387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60465"/>
            <a:ext cx="8596668" cy="1320800"/>
          </a:xfrm>
        </p:spPr>
        <p:txBody>
          <a:bodyPr/>
          <a:lstStyle/>
          <a:p>
            <a:r>
              <a:rPr lang="en-US" b="1" dirty="0"/>
              <a:t>Map-</a:t>
            </a:r>
            <a:r>
              <a:rPr lang="en-US" b="1" dirty="0" err="1"/>
              <a:t>Rerank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62567"/>
            <a:ext cx="8596668" cy="3880773"/>
          </a:xfrm>
        </p:spPr>
        <p:txBody>
          <a:bodyPr/>
          <a:lstStyle/>
          <a:p>
            <a:r>
              <a:rPr lang="en-US" sz="2400" dirty="0"/>
              <a:t>Each chunk → LLM + score</a:t>
            </a:r>
          </a:p>
          <a:p>
            <a:r>
              <a:rPr lang="en-US" sz="2400" dirty="0"/>
              <a:t>Pick best</a:t>
            </a:r>
          </a:p>
          <a:p>
            <a:r>
              <a:rPr lang="en-US" sz="2400" dirty="0"/>
              <a:t>Pros:</a:t>
            </a:r>
          </a:p>
          <a:p>
            <a:r>
              <a:rPr lang="en-US" sz="2400" dirty="0"/>
              <a:t>Good for ranking</a:t>
            </a:r>
          </a:p>
          <a:p>
            <a:r>
              <a:rPr lang="en-US" sz="2400" dirty="0"/>
              <a:t>Cons:</a:t>
            </a:r>
          </a:p>
          <a:p>
            <a:r>
              <a:rPr lang="en-US" sz="2400" dirty="0"/>
              <a:t>Experimental</a:t>
            </a:r>
          </a:p>
          <a:p>
            <a:r>
              <a:rPr lang="en-US" sz="2400" dirty="0"/>
              <a:t>Costly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2425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</a:t>
            </a:r>
            <a:r>
              <a:rPr lang="en-US" b="1" dirty="0" err="1"/>
              <a:t>LangChain</a:t>
            </a:r>
            <a:r>
              <a:rPr lang="en-US" b="1" dirty="0"/>
              <a:t> Is Powerful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You can do this</a:t>
            </a:r>
            <a:r>
              <a:rPr lang="en-US" sz="2400" dirty="0" smtClean="0"/>
              <a:t>:</a:t>
            </a:r>
          </a:p>
          <a:p>
            <a:r>
              <a:rPr lang="en-US" sz="2400" dirty="0"/>
              <a:t>index = </a:t>
            </a:r>
            <a:r>
              <a:rPr lang="en-US" sz="2400" dirty="0" err="1"/>
              <a:t>VectorstoreIndexCreator</a:t>
            </a:r>
            <a:r>
              <a:rPr lang="en-US" sz="2400" dirty="0"/>
              <a:t>().</a:t>
            </a:r>
            <a:r>
              <a:rPr lang="en-US" sz="2400" dirty="0" err="1"/>
              <a:t>from_loaders</a:t>
            </a:r>
            <a:r>
              <a:rPr lang="en-US" sz="2400" dirty="0"/>
              <a:t>([loader])</a:t>
            </a:r>
          </a:p>
          <a:p>
            <a:r>
              <a:rPr lang="en-US" sz="2400" dirty="0" err="1"/>
              <a:t>index.query</a:t>
            </a:r>
            <a:r>
              <a:rPr lang="en-US" sz="2400" dirty="0"/>
              <a:t>("Which shirts offer sun protection?")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4899789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One-Line vs Full </a:t>
            </a:r>
            <a:r>
              <a:rPr lang="en-US" b="1" dirty="0" smtClean="0"/>
              <a:t>Control: </a:t>
            </a:r>
            <a:r>
              <a:rPr lang="en-US" dirty="0" err="1" smtClean="0"/>
              <a:t>LangChain</a:t>
            </a:r>
            <a:r>
              <a:rPr lang="en-US" dirty="0" smtClean="0"/>
              <a:t> </a:t>
            </a:r>
            <a:r>
              <a:rPr lang="en-US" dirty="0"/>
              <a:t>gives you:</a:t>
            </a:r>
            <a:endParaRPr lang="en-US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295055"/>
              </p:ext>
            </p:extLst>
          </p:nvPr>
        </p:nvGraphicFramePr>
        <p:xfrm>
          <a:off x="850665" y="2555139"/>
          <a:ext cx="8250006" cy="2563413"/>
        </p:xfrm>
        <a:graphic>
          <a:graphicData uri="http://schemas.openxmlformats.org/drawingml/2006/table">
            <a:tbl>
              <a:tblPr/>
              <a:tblGrid>
                <a:gridCol w="4125003"/>
                <a:gridCol w="4125003"/>
              </a:tblGrid>
              <a:tr h="68682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/>
                        <a:t>Style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/>
                        <a:t>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829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/>
                        <a:t>One-liner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/>
                        <a:t>Quick prototypes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829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/>
                        <a:t>Step-by-step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/>
                        <a:t>Production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382981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Real-World Use Cases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99609"/>
              </p:ext>
            </p:extLst>
          </p:nvPr>
        </p:nvGraphicFramePr>
        <p:xfrm>
          <a:off x="573272" y="1584617"/>
          <a:ext cx="9048028" cy="4300794"/>
        </p:xfrm>
        <a:graphic>
          <a:graphicData uri="http://schemas.openxmlformats.org/drawingml/2006/table">
            <a:tbl>
              <a:tblPr/>
              <a:tblGrid>
                <a:gridCol w="4524014"/>
                <a:gridCol w="4524014"/>
              </a:tblGrid>
              <a:tr h="71679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/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79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/>
                        <a:t>Policy bot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/>
                        <a:t>HR, legal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79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/>
                        <a:t>Product QA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/>
                        <a:t>Ecommerce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79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/>
                        <a:t>Research bot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/>
                        <a:t>Papers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79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/>
                        <a:t>Notes bot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/>
                        <a:t>Students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79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/>
                        <a:t>Support bot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/>
                        <a:t>FAQs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688180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This Beats Fine-Tuning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95818"/>
            <a:ext cx="8596668" cy="388077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Fine-tuning:</a:t>
            </a:r>
            <a:br>
              <a:rPr lang="en-US" sz="2400" dirty="0"/>
            </a:br>
            <a:r>
              <a:rPr lang="en-US" sz="2400" dirty="0"/>
              <a:t>❌ Expensive</a:t>
            </a:r>
            <a:br>
              <a:rPr lang="en-US" sz="2400" dirty="0"/>
            </a:br>
            <a:r>
              <a:rPr lang="en-US" sz="2400" dirty="0"/>
              <a:t>❌ Hard to update</a:t>
            </a:r>
            <a:br>
              <a:rPr lang="en-US" sz="2400" dirty="0"/>
            </a:br>
            <a:r>
              <a:rPr lang="en-US" sz="2400" dirty="0"/>
              <a:t>❌ Needs retraining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RAG:</a:t>
            </a:r>
            <a:br>
              <a:rPr lang="en-US" sz="2400" dirty="0"/>
            </a:br>
            <a:r>
              <a:rPr lang="en-US" sz="2400" dirty="0"/>
              <a:t>✅ Cheap</a:t>
            </a:r>
            <a:br>
              <a:rPr lang="en-US" sz="2400" dirty="0"/>
            </a:br>
            <a:r>
              <a:rPr lang="en-US" sz="2400" dirty="0"/>
              <a:t>✅ Instant updates</a:t>
            </a:r>
            <a:br>
              <a:rPr lang="en-US" sz="2400" dirty="0"/>
            </a:br>
            <a:r>
              <a:rPr lang="en-US" sz="2400" dirty="0"/>
              <a:t>✅ Scales well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98179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One-Line Exam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Retrieval-Augmented Generation (RAG) combines LLMs with vector search over </a:t>
            </a:r>
            <a:r>
              <a:rPr lang="en-US" sz="2400" dirty="0" err="1"/>
              <a:t>embeddings</a:t>
            </a:r>
            <a:r>
              <a:rPr lang="en-US" sz="2400" dirty="0"/>
              <a:t> to answer questions using external documents</a:t>
            </a:r>
          </a:p>
        </p:txBody>
      </p:sp>
    </p:spTree>
    <p:extLst>
      <p:ext uri="{BB962C8B-B14F-4D97-AF65-F5344CB8AC3E}">
        <p14:creationId xmlns:p14="http://schemas.microsoft.com/office/powerpoint/2010/main" val="229184927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Evaluating LLM Applications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91035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Evaluation Is Hard for LLM Apps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270000"/>
            <a:ext cx="9031931" cy="539680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60000"/>
              </a:lnSpc>
            </a:pPr>
            <a:r>
              <a:rPr lang="en-US" sz="2400" dirty="0"/>
              <a:t>In classical ML:</a:t>
            </a:r>
          </a:p>
          <a:p>
            <a:pPr>
              <a:lnSpc>
                <a:spcPct val="160000"/>
              </a:lnSpc>
            </a:pPr>
            <a:r>
              <a:rPr lang="en-US" sz="2400" dirty="0"/>
              <a:t>Accuracy</a:t>
            </a:r>
          </a:p>
          <a:p>
            <a:pPr>
              <a:lnSpc>
                <a:spcPct val="160000"/>
              </a:lnSpc>
            </a:pPr>
            <a:r>
              <a:rPr lang="en-US" sz="2400" dirty="0"/>
              <a:t>Precision</a:t>
            </a:r>
          </a:p>
          <a:p>
            <a:pPr>
              <a:lnSpc>
                <a:spcPct val="160000"/>
              </a:lnSpc>
            </a:pPr>
            <a:r>
              <a:rPr lang="en-US" sz="2400" dirty="0"/>
              <a:t>Recall</a:t>
            </a:r>
          </a:p>
          <a:p>
            <a:pPr>
              <a:lnSpc>
                <a:spcPct val="160000"/>
              </a:lnSpc>
            </a:pPr>
            <a:r>
              <a:rPr lang="en-US" sz="2400" dirty="0"/>
              <a:t>F1-score</a:t>
            </a:r>
          </a:p>
          <a:p>
            <a:pPr>
              <a:lnSpc>
                <a:spcPct val="160000"/>
              </a:lnSpc>
            </a:pPr>
            <a:r>
              <a:rPr lang="en-US" sz="2400" dirty="0"/>
              <a:t>These work because:</a:t>
            </a:r>
            <a:br>
              <a:rPr lang="en-US" sz="2400" dirty="0"/>
            </a:br>
            <a:r>
              <a:rPr lang="en-US" sz="2400" dirty="0"/>
              <a:t>✔ Output is structured</a:t>
            </a:r>
            <a:br>
              <a:rPr lang="en-US" sz="2400" dirty="0"/>
            </a:br>
            <a:r>
              <a:rPr lang="en-US" sz="2400" dirty="0"/>
              <a:t>✔ Output is finite</a:t>
            </a:r>
            <a:br>
              <a:rPr lang="en-US" sz="2400" dirty="0"/>
            </a:br>
            <a:r>
              <a:rPr lang="en-US" sz="2400" dirty="0"/>
              <a:t>✔ Correct answers are exact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30267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These Metrics Fail for LLMs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95818"/>
            <a:ext cx="8596668" cy="388077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LLM outputs are: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Free-form text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Open-ended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Many correct answers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Semantically similar but textually different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04610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447286"/>
            <a:ext cx="9499716" cy="4409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Ground truth: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Yes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output: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Cozy Comfort Pullover Set does indeed contain side pockets.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Exact string matching → ❌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 meaning → ✅</a:t>
            </a:r>
          </a:p>
        </p:txBody>
      </p:sp>
    </p:spTree>
    <p:extLst>
      <p:ext uri="{BB962C8B-B14F-4D97-AF65-F5344CB8AC3E}">
        <p14:creationId xmlns:p14="http://schemas.microsoft.com/office/powerpoint/2010/main" val="171438413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446" y="277091"/>
            <a:ext cx="9597197" cy="1320800"/>
          </a:xfrm>
        </p:spPr>
        <p:txBody>
          <a:bodyPr/>
          <a:lstStyle/>
          <a:p>
            <a:r>
              <a:rPr lang="en-US" b="1" dirty="0"/>
              <a:t>New Problem: How Do We Evaluate Text?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203" y="1398386"/>
            <a:ext cx="8765924" cy="526842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We need to measure: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Semantic correctness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Factual consistency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Faithfulness to context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Hallucination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Relevance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This is much harder than classification.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07843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Two Levels of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28574"/>
            <a:ext cx="8596668" cy="3880773"/>
          </a:xfrm>
        </p:spPr>
        <p:txBody>
          <a:bodyPr/>
          <a:lstStyle/>
          <a:p>
            <a:r>
              <a:rPr lang="en-US" sz="2400" b="1" dirty="0"/>
              <a:t>(A) Debugging Individual Runs</a:t>
            </a:r>
          </a:p>
          <a:p>
            <a:r>
              <a:rPr lang="en-US" sz="2400" dirty="0"/>
              <a:t>Used during development.</a:t>
            </a:r>
          </a:p>
          <a:p>
            <a:r>
              <a:rPr lang="en-US" sz="2400" dirty="0"/>
              <a:t>Questions:</a:t>
            </a:r>
          </a:p>
          <a:p>
            <a:r>
              <a:rPr lang="en-US" sz="2400" dirty="0"/>
              <a:t>What prompt was used?</a:t>
            </a:r>
          </a:p>
          <a:p>
            <a:r>
              <a:rPr lang="en-US" sz="2400" dirty="0"/>
              <a:t>What context was retrieved?</a:t>
            </a:r>
          </a:p>
          <a:p>
            <a:r>
              <a:rPr lang="en-US" sz="2400" dirty="0"/>
              <a:t>What chunks were selected?</a:t>
            </a:r>
          </a:p>
          <a:p>
            <a:r>
              <a:rPr lang="en-US" sz="2400" dirty="0"/>
              <a:t>What did the LLM see?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8423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956" y="0"/>
            <a:ext cx="8596668" cy="3880773"/>
          </a:xfrm>
        </p:spPr>
        <p:txBody>
          <a:bodyPr/>
          <a:lstStyle/>
          <a:p>
            <a:r>
              <a:rPr lang="en-US" sz="2400" b="1" dirty="0"/>
              <a:t>(B) Systematic Evaluation Over Datasets</a:t>
            </a:r>
          </a:p>
          <a:p>
            <a:r>
              <a:rPr lang="en-US" sz="2400" dirty="0"/>
              <a:t>Used for:</a:t>
            </a:r>
          </a:p>
          <a:p>
            <a:r>
              <a:rPr lang="en-US" sz="2400" dirty="0"/>
              <a:t>Regression testing</a:t>
            </a:r>
          </a:p>
          <a:p>
            <a:r>
              <a:rPr lang="en-US" sz="2400" dirty="0"/>
              <a:t>Model comparison</a:t>
            </a:r>
          </a:p>
          <a:p>
            <a:r>
              <a:rPr lang="en-US" sz="2400" dirty="0"/>
              <a:t>Prompt comparison</a:t>
            </a:r>
          </a:p>
          <a:p>
            <a:r>
              <a:rPr lang="en-US" sz="2400" dirty="0"/>
              <a:t>Architecture changes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12285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1: Create an Evaluation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712" y="1445695"/>
            <a:ext cx="8596668" cy="1546888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You need:</a:t>
            </a:r>
          </a:p>
          <a:p>
            <a:r>
              <a:rPr lang="en-US" sz="2400" dirty="0"/>
              <a:t>Queries</a:t>
            </a:r>
          </a:p>
          <a:p>
            <a:r>
              <a:rPr lang="en-US" sz="2400" dirty="0"/>
              <a:t>Ground truth </a:t>
            </a:r>
            <a:r>
              <a:rPr lang="en-US" sz="2400" dirty="0" smtClean="0"/>
              <a:t>answers</a:t>
            </a:r>
          </a:p>
          <a:p>
            <a:r>
              <a:rPr lang="en-US" sz="2400" dirty="0"/>
              <a:t>Method 1: Manual Creation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2857"/>
              </p:ext>
            </p:extLst>
          </p:nvPr>
        </p:nvGraphicFramePr>
        <p:xfrm>
          <a:off x="1043449" y="2992583"/>
          <a:ext cx="6837016" cy="2103120"/>
        </p:xfrm>
        <a:graphic>
          <a:graphicData uri="http://schemas.openxmlformats.org/drawingml/2006/table">
            <a:tbl>
              <a:tblPr/>
              <a:tblGrid>
                <a:gridCol w="4298156"/>
                <a:gridCol w="2538860"/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Question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Ground Truth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Does the pullover have pockets?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What collection is this jacket from?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DownTek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93712" y="535590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Problem:</a:t>
            </a:r>
            <a:br>
              <a:rPr lang="en-US" dirty="0"/>
            </a:br>
            <a:r>
              <a:rPr lang="en-US" dirty="0"/>
              <a:t>❌ Slow</a:t>
            </a:r>
            <a:br>
              <a:rPr lang="en-US" dirty="0"/>
            </a:br>
            <a:r>
              <a:rPr lang="en-US" dirty="0"/>
              <a:t>❌ Not scalable</a:t>
            </a:r>
            <a:br>
              <a:rPr lang="en-US" dirty="0"/>
            </a:br>
            <a:r>
              <a:rPr lang="en-US" dirty="0"/>
              <a:t>❌ Human effort</a:t>
            </a:r>
          </a:p>
        </p:txBody>
      </p:sp>
    </p:spTree>
    <p:extLst>
      <p:ext uri="{BB962C8B-B14F-4D97-AF65-F5344CB8AC3E}">
        <p14:creationId xmlns:p14="http://schemas.microsoft.com/office/powerpoint/2010/main" val="77419538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131" y="260465"/>
            <a:ext cx="9709265" cy="1320800"/>
          </a:xfrm>
        </p:spPr>
        <p:txBody>
          <a:bodyPr/>
          <a:lstStyle/>
          <a:p>
            <a:pPr algn="ctr"/>
            <a:r>
              <a:rPr lang="en-US" b="1" dirty="0"/>
              <a:t>Method 2: Automatic Dataset Creation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(</a:t>
            </a:r>
            <a:r>
              <a:rPr lang="en-US" b="1" dirty="0"/>
              <a:t>LLM-Assisted)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40960" y="1883773"/>
            <a:ext cx="9448420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LangChain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a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QA Generation Chain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Concept: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LLM to generate questions and answers from documents.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extremely powerful.</a:t>
            </a:r>
          </a:p>
        </p:txBody>
      </p:sp>
    </p:spTree>
    <p:extLst>
      <p:ext uri="{BB962C8B-B14F-4D97-AF65-F5344CB8AC3E}">
        <p14:creationId xmlns:p14="http://schemas.microsoft.com/office/powerpoint/2010/main" val="230043024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LLMs Can Create Their Own Test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11702"/>
            <a:ext cx="8596668" cy="3880773"/>
          </a:xfrm>
        </p:spPr>
        <p:txBody>
          <a:bodyPr/>
          <a:lstStyle/>
          <a:p>
            <a:r>
              <a:rPr lang="en-US" sz="2400" dirty="0"/>
              <a:t>Documents → LLM → (Question, Answer) </a:t>
            </a:r>
            <a:r>
              <a:rPr lang="en-US" sz="2400" dirty="0" smtClean="0"/>
              <a:t>pairs</a:t>
            </a:r>
          </a:p>
          <a:p>
            <a:r>
              <a:rPr lang="en-US" sz="2400" dirty="0"/>
              <a:t>Benefits:</a:t>
            </a:r>
            <a:br>
              <a:rPr lang="en-US" sz="2400" dirty="0"/>
            </a:br>
            <a:r>
              <a:rPr lang="en-US" sz="2400" dirty="0"/>
              <a:t>✔ Scalable</a:t>
            </a:r>
            <a:br>
              <a:rPr lang="en-US" sz="2400" dirty="0"/>
            </a:br>
            <a:r>
              <a:rPr lang="en-US" sz="2400" dirty="0"/>
              <a:t>✔ Fast</a:t>
            </a:r>
            <a:br>
              <a:rPr lang="en-US" sz="2400" dirty="0"/>
            </a:br>
            <a:r>
              <a:rPr lang="en-US" sz="2400" dirty="0"/>
              <a:t>✔ Cheap</a:t>
            </a:r>
            <a:br>
              <a:rPr lang="en-US" sz="2400" dirty="0"/>
            </a:br>
            <a:r>
              <a:rPr lang="en-US" sz="2400" dirty="0"/>
              <a:t>✔ Diverse</a:t>
            </a:r>
          </a:p>
          <a:p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31069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This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62072"/>
            <a:ext cx="8596668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Evaluation data is the </a:t>
            </a:r>
            <a:r>
              <a:rPr lang="en-US" sz="2400" b="1" dirty="0"/>
              <a:t>foundation</a:t>
            </a:r>
            <a:r>
              <a:rPr lang="en-US" sz="2400" dirty="0"/>
              <a:t> of quality systems.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Without it:</a:t>
            </a:r>
            <a:br>
              <a:rPr lang="en-US" sz="2400" dirty="0"/>
            </a:br>
            <a:r>
              <a:rPr lang="en-US" sz="2400" dirty="0"/>
              <a:t>❌ You don’t know if system improved</a:t>
            </a:r>
            <a:br>
              <a:rPr lang="en-US" sz="2400" dirty="0"/>
            </a:br>
            <a:r>
              <a:rPr lang="en-US" sz="2400" dirty="0"/>
              <a:t>❌ You don’t know if system regressed</a:t>
            </a:r>
            <a:br>
              <a:rPr lang="en-US" sz="2400" dirty="0"/>
            </a:br>
            <a:r>
              <a:rPr lang="en-US" sz="2400" dirty="0"/>
              <a:t>❌ You are guessing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6631138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2: Debugging a Single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95076"/>
            <a:ext cx="8596668" cy="3880773"/>
          </a:xfrm>
        </p:spPr>
        <p:txBody>
          <a:bodyPr/>
          <a:lstStyle/>
          <a:p>
            <a:r>
              <a:rPr lang="en-US" sz="2400" dirty="0"/>
              <a:t>Before mass evaluation, you must inspect:</a:t>
            </a:r>
          </a:p>
          <a:p>
            <a:r>
              <a:rPr lang="en-US" sz="2400" dirty="0"/>
              <a:t>Prompt</a:t>
            </a:r>
          </a:p>
          <a:p>
            <a:r>
              <a:rPr lang="en-US" sz="2400" dirty="0"/>
              <a:t>Retrieved context</a:t>
            </a:r>
          </a:p>
          <a:p>
            <a:r>
              <a:rPr lang="en-US" sz="2400" dirty="0"/>
              <a:t>Final output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80763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LangChain</a:t>
            </a:r>
            <a:r>
              <a:rPr lang="en-US" b="1" dirty="0"/>
              <a:t> Debugging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95076"/>
            <a:ext cx="8596668" cy="3880773"/>
          </a:xfrm>
        </p:spPr>
        <p:txBody>
          <a:bodyPr/>
          <a:lstStyle/>
          <a:p>
            <a:r>
              <a:rPr lang="en-US" sz="2400" dirty="0" err="1"/>
              <a:t>langchain.debug</a:t>
            </a:r>
            <a:r>
              <a:rPr lang="en-US" sz="2400" dirty="0"/>
              <a:t> = </a:t>
            </a:r>
            <a:r>
              <a:rPr lang="en-US" sz="2400" dirty="0" smtClean="0"/>
              <a:t>True</a:t>
            </a:r>
          </a:p>
          <a:p>
            <a:r>
              <a:rPr lang="en-US" sz="2400" dirty="0"/>
              <a:t>This shows:</a:t>
            </a:r>
          </a:p>
          <a:p>
            <a:r>
              <a:rPr lang="en-US" sz="2400" dirty="0"/>
              <a:t>Chain steps</a:t>
            </a:r>
          </a:p>
          <a:p>
            <a:r>
              <a:rPr lang="en-US" sz="2400" dirty="0"/>
              <a:t>Inputs/outputs</a:t>
            </a:r>
          </a:p>
          <a:p>
            <a:r>
              <a:rPr lang="en-US" sz="2400" dirty="0"/>
              <a:t>Intermediate prompts</a:t>
            </a:r>
          </a:p>
          <a:p>
            <a:r>
              <a:rPr lang="en-US" sz="2400" dirty="0"/>
              <a:t>Retrieved chunks</a:t>
            </a:r>
          </a:p>
          <a:p>
            <a:r>
              <a:rPr lang="en-US" sz="2400" dirty="0"/>
              <a:t>Token usage</a:t>
            </a:r>
          </a:p>
          <a:p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80424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Debugging Is Critical in RAG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449575"/>
              </p:ext>
            </p:extLst>
          </p:nvPr>
        </p:nvGraphicFramePr>
        <p:xfrm>
          <a:off x="677690" y="1930400"/>
          <a:ext cx="8596312" cy="3422995"/>
        </p:xfrm>
        <a:graphic>
          <a:graphicData uri="http://schemas.openxmlformats.org/drawingml/2006/table">
            <a:tbl>
              <a:tblPr/>
              <a:tblGrid>
                <a:gridCol w="4298156"/>
                <a:gridCol w="4298156"/>
              </a:tblGrid>
              <a:tr h="684599">
                <a:tc>
                  <a:txBody>
                    <a:bodyPr/>
                    <a:lstStyle/>
                    <a:p>
                      <a:r>
                        <a:rPr lang="en-US" sz="2400" b="1" dirty="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Failure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4599">
                <a:tc>
                  <a:txBody>
                    <a:bodyPr/>
                    <a:lstStyle/>
                    <a:p>
                      <a:r>
                        <a:rPr lang="en-US" sz="2400" dirty="0"/>
                        <a:t>Retriever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Wrong chunks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4599">
                <a:tc>
                  <a:txBody>
                    <a:bodyPr/>
                    <a:lstStyle/>
                    <a:p>
                      <a:r>
                        <a:rPr lang="en-US" sz="2400" dirty="0"/>
                        <a:t>Prompt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Bad instructions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4599">
                <a:tc>
                  <a:txBody>
                    <a:bodyPr/>
                    <a:lstStyle/>
                    <a:p>
                      <a:r>
                        <a:rPr lang="en-US" sz="2400"/>
                        <a:t>LLM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Hallucination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4599">
                <a:tc>
                  <a:txBody>
                    <a:bodyPr/>
                    <a:lstStyle/>
                    <a:p>
                      <a:r>
                        <a:rPr lang="en-US" sz="2400"/>
                        <a:t>Chunking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Poor splits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342895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You Should Inspect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78698"/>
            <a:ext cx="8596668" cy="3880773"/>
          </a:xfrm>
        </p:spPr>
        <p:txBody>
          <a:bodyPr/>
          <a:lstStyle/>
          <a:p>
            <a:r>
              <a:rPr lang="en-US" sz="2400" dirty="0"/>
              <a:t>When answer is wrong, check:</a:t>
            </a:r>
          </a:p>
          <a:p>
            <a:r>
              <a:rPr lang="en-US" sz="2400" dirty="0"/>
              <a:t>Was the correct chunk retrieved?</a:t>
            </a:r>
          </a:p>
          <a:p>
            <a:r>
              <a:rPr lang="en-US" sz="2400" dirty="0"/>
              <a:t>Was the prompt clear?</a:t>
            </a:r>
          </a:p>
          <a:p>
            <a:r>
              <a:rPr lang="en-US" sz="2400" dirty="0"/>
              <a:t>Was context truncated?</a:t>
            </a:r>
          </a:p>
          <a:p>
            <a:r>
              <a:rPr lang="en-US" sz="2400" dirty="0"/>
              <a:t>Did LLM hallucinate?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48787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083" y="158145"/>
            <a:ext cx="8596668" cy="1320800"/>
          </a:xfrm>
        </p:spPr>
        <p:txBody>
          <a:bodyPr/>
          <a:lstStyle/>
          <a:p>
            <a:r>
              <a:rPr lang="en-US" b="1" dirty="0"/>
              <a:t>Token Usage =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076" y="1046683"/>
            <a:ext cx="8583044" cy="5171237"/>
          </a:xfrm>
        </p:spPr>
        <p:txBody>
          <a:bodyPr>
            <a:normAutofit/>
          </a:bodyPr>
          <a:lstStyle/>
          <a:p>
            <a:r>
              <a:rPr lang="en-US" sz="2400" dirty="0"/>
              <a:t>LLMs charge by tokens.</a:t>
            </a:r>
          </a:p>
          <a:p>
            <a:r>
              <a:rPr lang="en-US" sz="2400" dirty="0" err="1"/>
              <a:t>LangChain</a:t>
            </a:r>
            <a:r>
              <a:rPr lang="en-US" sz="2400" dirty="0"/>
              <a:t> exposes:</a:t>
            </a:r>
          </a:p>
          <a:p>
            <a:r>
              <a:rPr lang="en-US" sz="2400" dirty="0" err="1"/>
              <a:t>prompt_tokens</a:t>
            </a:r>
            <a:endParaRPr lang="en-US" sz="2400" dirty="0"/>
          </a:p>
          <a:p>
            <a:r>
              <a:rPr lang="en-US" sz="2400" dirty="0" err="1"/>
              <a:t>completion_tokens</a:t>
            </a:r>
            <a:endParaRPr lang="en-US" sz="2400" dirty="0"/>
          </a:p>
          <a:p>
            <a:r>
              <a:rPr lang="en-US" sz="2400" dirty="0" err="1"/>
              <a:t>total_tokens</a:t>
            </a:r>
            <a:endParaRPr lang="en-US" sz="2400" dirty="0"/>
          </a:p>
          <a:p>
            <a:r>
              <a:rPr lang="en-US" sz="2400" dirty="0" err="1"/>
              <a:t>model_name</a:t>
            </a:r>
            <a:endParaRPr lang="en-US" sz="2400" dirty="0"/>
          </a:p>
          <a:p>
            <a:r>
              <a:rPr lang="en-US" sz="2400" dirty="0"/>
              <a:t>This lets you:</a:t>
            </a:r>
            <a:br>
              <a:rPr lang="en-US" sz="2400" dirty="0"/>
            </a:br>
            <a:r>
              <a:rPr lang="en-US" sz="2400" dirty="0"/>
              <a:t>✔ Track cost</a:t>
            </a:r>
            <a:br>
              <a:rPr lang="en-US" sz="2400" dirty="0"/>
            </a:br>
            <a:r>
              <a:rPr lang="en-US" sz="2400" dirty="0"/>
              <a:t>✔ Optimize prompts</a:t>
            </a:r>
            <a:br>
              <a:rPr lang="en-US" sz="2400" dirty="0"/>
            </a:br>
            <a:r>
              <a:rPr lang="en-US" sz="2400" dirty="0"/>
              <a:t>✔ Choose cheaper models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65181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3: Batch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Now that we have:</a:t>
            </a:r>
          </a:p>
          <a:p>
            <a:r>
              <a:rPr lang="en-US" sz="2400" dirty="0"/>
              <a:t>Dataset</a:t>
            </a:r>
          </a:p>
          <a:p>
            <a:r>
              <a:rPr lang="en-US" sz="2400" dirty="0"/>
              <a:t>Predictions</a:t>
            </a:r>
          </a:p>
          <a:p>
            <a:r>
              <a:rPr lang="en-US" sz="2400" dirty="0"/>
              <a:t>We need to compare them.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9759830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083" y="520598"/>
            <a:ext cx="8596668" cy="1320800"/>
          </a:xfrm>
        </p:spPr>
        <p:txBody>
          <a:bodyPr/>
          <a:lstStyle/>
          <a:p>
            <a:r>
              <a:rPr lang="en-US" b="1" dirty="0"/>
              <a:t>Why We Can’t Use Exact Matching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44083" y="1492264"/>
            <a:ext cx="682074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Ground truth: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Prediction: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pullover set does include side pockets.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Exact string match → ❌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 meaning → ✅</a:t>
            </a:r>
          </a:p>
        </p:txBody>
      </p:sp>
    </p:spTree>
    <p:extLst>
      <p:ext uri="{BB962C8B-B14F-4D97-AF65-F5344CB8AC3E}">
        <p14:creationId xmlns:p14="http://schemas.microsoft.com/office/powerpoint/2010/main" val="52056960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This Is the Core Difficulty of LLM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LLMs generate </a:t>
            </a:r>
            <a:r>
              <a:rPr lang="en-US" sz="2400" b="1" dirty="0"/>
              <a:t>language</a:t>
            </a:r>
            <a:r>
              <a:rPr lang="en-US" sz="2400" dirty="0"/>
              <a:t>, not labels.</a:t>
            </a:r>
          </a:p>
          <a:p>
            <a:r>
              <a:rPr lang="en-US" sz="2400" dirty="0"/>
              <a:t>So:</a:t>
            </a:r>
          </a:p>
          <a:p>
            <a:r>
              <a:rPr lang="en-US" sz="2400" dirty="0"/>
              <a:t>No single correct string</a:t>
            </a:r>
          </a:p>
          <a:p>
            <a:r>
              <a:rPr lang="en-US" sz="2400" dirty="0"/>
              <a:t>Infinite paraphrases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63762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Solution: Use LLMs as Judges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713712"/>
            <a:ext cx="6750566" cy="1682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a revolutionary idea.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one LLM to evaluate another LLM.</a:t>
            </a:r>
          </a:p>
        </p:txBody>
      </p:sp>
    </p:spTree>
    <p:extLst>
      <p:ext uri="{BB962C8B-B14F-4D97-AF65-F5344CB8AC3E}">
        <p14:creationId xmlns:p14="http://schemas.microsoft.com/office/powerpoint/2010/main" val="155094199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LLM-Based Evaluation Works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513756"/>
            <a:ext cx="5291833" cy="4409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give the evaluator: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Question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Ground truth answer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Predicted answer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Then ask: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 these semantically equivalent?</a:t>
            </a:r>
          </a:p>
        </p:txBody>
      </p:sp>
    </p:spTree>
    <p:extLst>
      <p:ext uri="{BB962C8B-B14F-4D97-AF65-F5344CB8AC3E}">
        <p14:creationId xmlns:p14="http://schemas.microsoft.com/office/powerpoint/2010/main" val="213224508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This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45447"/>
            <a:ext cx="8596668" cy="3880773"/>
          </a:xfrm>
        </p:spPr>
        <p:txBody>
          <a:bodyPr>
            <a:normAutofit/>
          </a:bodyPr>
          <a:lstStyle/>
          <a:p>
            <a:r>
              <a:rPr lang="en-US" sz="2400" dirty="0"/>
              <a:t>LLMs are good at:</a:t>
            </a:r>
          </a:p>
          <a:p>
            <a:r>
              <a:rPr lang="en-US" sz="2400" dirty="0"/>
              <a:t>Understanding meaning</a:t>
            </a:r>
          </a:p>
          <a:p>
            <a:r>
              <a:rPr lang="en-US" sz="2400" dirty="0"/>
              <a:t>Paraphrase detection</a:t>
            </a:r>
          </a:p>
          <a:p>
            <a:r>
              <a:rPr lang="en-US" sz="2400" dirty="0"/>
              <a:t>Reasoning</a:t>
            </a:r>
          </a:p>
          <a:p>
            <a:r>
              <a:rPr lang="en-US" sz="2400" dirty="0"/>
              <a:t>Natural language comparison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8526475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LangChain</a:t>
            </a:r>
            <a:r>
              <a:rPr lang="en-US" b="1" dirty="0"/>
              <a:t> </a:t>
            </a:r>
            <a:r>
              <a:rPr lang="en-US" b="1" dirty="0" err="1"/>
              <a:t>Eval</a:t>
            </a:r>
            <a:r>
              <a:rPr lang="en-US" b="1" dirty="0"/>
              <a:t> Chains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/>
              <a:t>LangChain</a:t>
            </a:r>
            <a:r>
              <a:rPr lang="en-US" sz="2400" dirty="0"/>
              <a:t> provides:</a:t>
            </a:r>
          </a:p>
          <a:p>
            <a:r>
              <a:rPr lang="en-US" sz="2400" dirty="0"/>
              <a:t>QA </a:t>
            </a:r>
            <a:r>
              <a:rPr lang="en-US" sz="2400" dirty="0" err="1"/>
              <a:t>Eval</a:t>
            </a:r>
            <a:r>
              <a:rPr lang="en-US" sz="2400" dirty="0"/>
              <a:t> Chain</a:t>
            </a:r>
          </a:p>
          <a:p>
            <a:r>
              <a:rPr lang="en-US" sz="2400" dirty="0"/>
              <a:t>Criteria-based </a:t>
            </a:r>
            <a:r>
              <a:rPr lang="en-US" sz="2400" dirty="0" err="1"/>
              <a:t>Eval</a:t>
            </a:r>
            <a:endParaRPr lang="en-US" sz="2400" dirty="0"/>
          </a:p>
          <a:p>
            <a:r>
              <a:rPr lang="en-US" sz="2400" dirty="0"/>
              <a:t>Faithfulness checks</a:t>
            </a:r>
          </a:p>
          <a:p>
            <a:r>
              <a:rPr lang="en-US" sz="2400" dirty="0"/>
              <a:t>Relevance checks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43297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QA Evaluation Logic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27705" y="1557722"/>
            <a:ext cx="9317679" cy="2193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Evaluator prompt: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the predicted answer with the true answer.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 they mean the same thing, return CORRECT, else INCORRECT.</a:t>
            </a:r>
          </a:p>
        </p:txBody>
      </p:sp>
    </p:spTree>
    <p:extLst>
      <p:ext uri="{BB962C8B-B14F-4D97-AF65-F5344CB8AC3E}">
        <p14:creationId xmlns:p14="http://schemas.microsoft.com/office/powerpoint/2010/main" val="82792998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This Gives </a:t>
            </a:r>
            <a:r>
              <a:rPr lang="en-US" b="1" dirty="0" smtClean="0"/>
              <a:t>You</a:t>
            </a:r>
            <a:endParaRPr lang="en-US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218170"/>
              </p:ext>
            </p:extLst>
          </p:nvPr>
        </p:nvGraphicFramePr>
        <p:xfrm>
          <a:off x="794241" y="1930400"/>
          <a:ext cx="8596312" cy="3437382"/>
        </p:xfrm>
        <a:graphic>
          <a:graphicData uri="http://schemas.openxmlformats.org/drawingml/2006/table">
            <a:tbl>
              <a:tblPr/>
              <a:tblGrid>
                <a:gridCol w="4298156"/>
                <a:gridCol w="4298156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/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/>
                        <a:t>Question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/>
                        <a:t>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/>
                        <a:t>Ground Truth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/>
                        <a:t>Correct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/>
                        <a:t>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/>
                        <a:t>Model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/>
                        <a:t>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/>
                        <a:t>Correct / Incorrect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/>
                        <a:t>Reason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/>
                        <a:t>Explanation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39601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773" y="443345"/>
            <a:ext cx="8596668" cy="1320800"/>
          </a:xfrm>
        </p:spPr>
        <p:txBody>
          <a:bodyPr/>
          <a:lstStyle/>
          <a:p>
            <a:r>
              <a:rPr lang="en-US" b="1" dirty="0"/>
              <a:t>Why This Is Better Than Regex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9773" y="1246189"/>
            <a:ext cx="8596668" cy="531255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Regex:</a:t>
            </a:r>
            <a:br>
              <a:rPr lang="en-US" sz="2400" dirty="0"/>
            </a:br>
            <a:r>
              <a:rPr lang="en-US" sz="2400" dirty="0"/>
              <a:t>❌ Brittle</a:t>
            </a:r>
            <a:br>
              <a:rPr lang="en-US" sz="2400" dirty="0"/>
            </a:br>
            <a:r>
              <a:rPr lang="en-US" sz="2400" dirty="0"/>
              <a:t>❌ Fragile</a:t>
            </a:r>
            <a:br>
              <a:rPr lang="en-US" sz="2400" dirty="0"/>
            </a:br>
            <a:r>
              <a:rPr lang="en-US" sz="2400" dirty="0"/>
              <a:t>❌ Language-blind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LLM judge:</a:t>
            </a:r>
            <a:br>
              <a:rPr lang="en-US" sz="2400" dirty="0"/>
            </a:br>
            <a:r>
              <a:rPr lang="en-US" sz="2400" dirty="0"/>
              <a:t>✔ Semantic</a:t>
            </a:r>
            <a:br>
              <a:rPr lang="en-US" sz="2400" dirty="0"/>
            </a:br>
            <a:r>
              <a:rPr lang="en-US" sz="2400" dirty="0"/>
              <a:t>✔ Robust</a:t>
            </a:r>
            <a:br>
              <a:rPr lang="en-US" sz="2400" dirty="0"/>
            </a:br>
            <a:r>
              <a:rPr lang="en-US" sz="2400" dirty="0"/>
              <a:t>✔ Flexible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66086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This Is a New Paradigm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737030"/>
            <a:ext cx="4091185" cy="2932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ML: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Metrics compare numbers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 systems: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 judge meaning</a:t>
            </a:r>
          </a:p>
        </p:txBody>
      </p:sp>
    </p:spTree>
    <p:extLst>
      <p:ext uri="{BB962C8B-B14F-4D97-AF65-F5344CB8AC3E}">
        <p14:creationId xmlns:p14="http://schemas.microsoft.com/office/powerpoint/2010/main" val="107256563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4: UI-Based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29069"/>
            <a:ext cx="8466666" cy="5428931"/>
          </a:xfrm>
        </p:spPr>
        <p:txBody>
          <a:bodyPr>
            <a:normAutofit/>
          </a:bodyPr>
          <a:lstStyle/>
          <a:p>
            <a:r>
              <a:rPr lang="en-US" sz="2400" dirty="0" err="1"/>
              <a:t>LangChain</a:t>
            </a:r>
            <a:r>
              <a:rPr lang="en-US" sz="2400" dirty="0"/>
              <a:t> provides a platform (now called </a:t>
            </a:r>
            <a:r>
              <a:rPr lang="en-US" sz="2400" b="1" dirty="0" err="1"/>
              <a:t>LangSmith</a:t>
            </a:r>
            <a:r>
              <a:rPr lang="en-US" sz="2400" dirty="0"/>
              <a:t>).</a:t>
            </a:r>
          </a:p>
          <a:p>
            <a:r>
              <a:rPr lang="en-US" sz="2400" dirty="0"/>
              <a:t>It lets you:</a:t>
            </a:r>
          </a:p>
          <a:p>
            <a:r>
              <a:rPr lang="en-US" sz="2400" dirty="0"/>
              <a:t>Log runs</a:t>
            </a:r>
          </a:p>
          <a:p>
            <a:r>
              <a:rPr lang="en-US" sz="2400" dirty="0"/>
              <a:t>Track prompts</a:t>
            </a:r>
          </a:p>
          <a:p>
            <a:r>
              <a:rPr lang="en-US" sz="2400" dirty="0"/>
              <a:t>Track chains</a:t>
            </a:r>
          </a:p>
          <a:p>
            <a:r>
              <a:rPr lang="en-US" sz="2400" dirty="0"/>
              <a:t>Visualize steps</a:t>
            </a:r>
          </a:p>
          <a:p>
            <a:r>
              <a:rPr lang="en-US" sz="2400" dirty="0"/>
              <a:t>Compare versions</a:t>
            </a:r>
          </a:p>
          <a:p>
            <a:r>
              <a:rPr lang="en-US" sz="2400" dirty="0"/>
              <a:t>Build datasets</a:t>
            </a:r>
          </a:p>
          <a:p>
            <a:r>
              <a:rPr lang="en-US" sz="2400" dirty="0"/>
              <a:t>Re-run tests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6651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UI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44953"/>
            <a:ext cx="8849051" cy="45228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Debugging in notebooks is hard.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UI gives: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✔ Traceability</a:t>
            </a:r>
            <a:br>
              <a:rPr lang="en-US" sz="2400" dirty="0"/>
            </a:br>
            <a:r>
              <a:rPr lang="en-US" sz="2400" dirty="0"/>
              <a:t>✔ Observability</a:t>
            </a:r>
            <a:br>
              <a:rPr lang="en-US" sz="2400" dirty="0"/>
            </a:br>
            <a:r>
              <a:rPr lang="en-US" sz="2400" dirty="0"/>
              <a:t>✔ </a:t>
            </a:r>
            <a:r>
              <a:rPr lang="en-US" sz="2400" dirty="0" err="1"/>
              <a:t>Explainability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✔ Auditing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096796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You Can See in UI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621129"/>
            <a:ext cx="2262158" cy="3330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 chain tree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step input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step output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answer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 usage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calls</a:t>
            </a:r>
          </a:p>
        </p:txBody>
      </p:sp>
    </p:spTree>
    <p:extLst>
      <p:ext uri="{BB962C8B-B14F-4D97-AF65-F5344CB8AC3E}">
        <p14:creationId xmlns:p14="http://schemas.microsoft.com/office/powerpoint/2010/main" val="65216763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453" y="365760"/>
            <a:ext cx="8596668" cy="1320800"/>
          </a:xfrm>
        </p:spPr>
        <p:txBody>
          <a:bodyPr/>
          <a:lstStyle/>
          <a:p>
            <a:r>
              <a:rPr lang="en-US" b="1" dirty="0"/>
              <a:t>Dataset Flywheel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10832" y="1320800"/>
            <a:ext cx="4623382" cy="4455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the key idea.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Every time your system runs: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 it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to dataset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 time: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Quality improves continuously</a:t>
            </a:r>
          </a:p>
        </p:txBody>
      </p:sp>
    </p:spTree>
    <p:extLst>
      <p:ext uri="{BB962C8B-B14F-4D97-AF65-F5344CB8AC3E}">
        <p14:creationId xmlns:p14="http://schemas.microsoft.com/office/powerpoint/2010/main" val="332982271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Modern Name: </a:t>
            </a:r>
            <a:r>
              <a:rPr lang="en-US" b="1" dirty="0" err="1"/>
              <a:t>LLMOps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521010"/>
            <a:ext cx="5102679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whole process is now called: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 Operations (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LLMOps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Just like: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MLOps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DevOps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79511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One-Line Exam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LLM evaluation requires semantic comparison, not string matching, and can be automated using LLM-based evaluators and trace-based debugging.</a:t>
            </a:r>
          </a:p>
        </p:txBody>
      </p:sp>
    </p:spTree>
    <p:extLst>
      <p:ext uri="{BB962C8B-B14F-4D97-AF65-F5344CB8AC3E}">
        <p14:creationId xmlns:p14="http://schemas.microsoft.com/office/powerpoint/2010/main" val="3086759325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Agents in </a:t>
            </a:r>
            <a:r>
              <a:rPr lang="en-US" b="1" dirty="0" err="1"/>
              <a:t>LangChain</a:t>
            </a:r>
            <a:endParaRPr lang="en-US" b="1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14159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Two Ways to Think About LLMs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796084"/>
            <a:ext cx="701506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people think of LLMs as: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knowledge store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a more powerful way to think about them is: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reasoning engine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990841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261697" y="1013432"/>
            <a:ext cx="4184035" cy="3880772"/>
          </a:xfrm>
        </p:spPr>
        <p:txBody>
          <a:bodyPr>
            <a:normAutofit/>
          </a:bodyPr>
          <a:lstStyle/>
          <a:p>
            <a:r>
              <a:rPr lang="en-US" sz="2400" b="1" dirty="0"/>
              <a:t>Knowledge Store View</a:t>
            </a:r>
          </a:p>
          <a:p>
            <a:r>
              <a:rPr lang="en-US" sz="2400" dirty="0"/>
              <a:t>Ask → Answer</a:t>
            </a:r>
          </a:p>
          <a:p>
            <a:r>
              <a:rPr lang="en-US" sz="2400" dirty="0"/>
              <a:t>Like Wikipedia</a:t>
            </a:r>
          </a:p>
          <a:p>
            <a:r>
              <a:rPr lang="en-US" sz="2400" dirty="0"/>
              <a:t>Static</a:t>
            </a:r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861369" y="1013432"/>
            <a:ext cx="4184034" cy="5137986"/>
          </a:xfrm>
        </p:spPr>
        <p:txBody>
          <a:bodyPr>
            <a:normAutofit/>
          </a:bodyPr>
          <a:lstStyle/>
          <a:p>
            <a:r>
              <a:rPr lang="en-US" sz="2400" b="1" dirty="0"/>
              <a:t>Reasoning Engine View (Important)</a:t>
            </a:r>
          </a:p>
          <a:p>
            <a:r>
              <a:rPr lang="en-US" sz="2400" dirty="0"/>
              <a:t>Think</a:t>
            </a:r>
          </a:p>
          <a:p>
            <a:r>
              <a:rPr lang="en-US" sz="2400" dirty="0"/>
              <a:t>Decide</a:t>
            </a:r>
          </a:p>
          <a:p>
            <a:r>
              <a:rPr lang="en-US" sz="2400" dirty="0"/>
              <a:t>Use tools</a:t>
            </a:r>
          </a:p>
          <a:p>
            <a:r>
              <a:rPr lang="en-US" sz="2400" dirty="0"/>
              <a:t>Observe results</a:t>
            </a:r>
          </a:p>
          <a:p>
            <a:r>
              <a:rPr lang="en-US" sz="2400" dirty="0"/>
              <a:t>Think again</a:t>
            </a:r>
          </a:p>
          <a:p>
            <a:r>
              <a:rPr lang="en-US" sz="2400" dirty="0"/>
              <a:t>Act again</a:t>
            </a:r>
          </a:p>
          <a:p>
            <a:r>
              <a:rPr lang="en-US" sz="2400" dirty="0"/>
              <a:t>This is what </a:t>
            </a:r>
            <a:r>
              <a:rPr lang="en-US" sz="2400" b="1" dirty="0"/>
              <a:t>Agents</a:t>
            </a:r>
            <a:r>
              <a:rPr lang="en-US" sz="2400" dirty="0"/>
              <a:t> enable.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4148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77334" y="160713"/>
            <a:ext cx="8596668" cy="1320800"/>
          </a:xfrm>
        </p:spPr>
        <p:txBody>
          <a:bodyPr/>
          <a:lstStyle/>
          <a:p>
            <a:r>
              <a:rPr lang="en-US" b="1" dirty="0"/>
              <a:t>What Is an Agent</a:t>
            </a:r>
            <a:r>
              <a:rPr lang="en-US" b="1" dirty="0" smtClean="0"/>
              <a:t>? </a:t>
            </a:r>
            <a:br>
              <a:rPr lang="en-US" b="1" dirty="0" smtClean="0"/>
            </a:br>
            <a:r>
              <a:rPr lang="en-US" b="1" dirty="0" smtClean="0"/>
              <a:t>LLM </a:t>
            </a:r>
            <a:r>
              <a:rPr lang="en-US" b="1" dirty="0"/>
              <a:t>+ Tools + Reasoning Loop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77334" y="1686764"/>
            <a:ext cx="8732673" cy="5171236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An </a:t>
            </a:r>
            <a:r>
              <a:rPr lang="en-US" sz="2400" b="1" dirty="0"/>
              <a:t>Agent</a:t>
            </a:r>
            <a:r>
              <a:rPr lang="en-US" sz="2400" dirty="0"/>
              <a:t> is an LLM that: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✔ Decides what to do</a:t>
            </a:r>
            <a:br>
              <a:rPr lang="en-US" sz="2400" dirty="0"/>
            </a:br>
            <a:r>
              <a:rPr lang="en-US" sz="2400" dirty="0"/>
              <a:t>✔ Chooses tools</a:t>
            </a:r>
            <a:br>
              <a:rPr lang="en-US" sz="2400" dirty="0"/>
            </a:br>
            <a:r>
              <a:rPr lang="en-US" sz="2400" dirty="0"/>
              <a:t>✔ Executes actions</a:t>
            </a:r>
            <a:br>
              <a:rPr lang="en-US" sz="2400" dirty="0"/>
            </a:br>
            <a:r>
              <a:rPr lang="en-US" sz="2400" dirty="0"/>
              <a:t>✔ Observes results</a:t>
            </a:r>
            <a:br>
              <a:rPr lang="en-US" sz="2400" dirty="0"/>
            </a:br>
            <a:r>
              <a:rPr lang="en-US" sz="2400" dirty="0"/>
              <a:t>✔ Repeats</a:t>
            </a:r>
            <a:br>
              <a:rPr lang="en-US" sz="2400" dirty="0"/>
            </a:br>
            <a:r>
              <a:rPr lang="en-US" sz="2400" dirty="0"/>
              <a:t>✔ Produces final answer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3002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10342"/>
            <a:ext cx="8596668" cy="1320800"/>
          </a:xfrm>
        </p:spPr>
        <p:txBody>
          <a:bodyPr/>
          <a:lstStyle/>
          <a:p>
            <a:r>
              <a:rPr lang="en-US" b="1" dirty="0"/>
              <a:t>Why Agents Are Powerful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31142"/>
            <a:ext cx="9613822" cy="503566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Traditional chain</a:t>
            </a:r>
            <a:r>
              <a:rPr lang="en-US" sz="2400" dirty="0" smtClean="0"/>
              <a:t>: Input </a:t>
            </a:r>
            <a:r>
              <a:rPr lang="en-US" sz="2400" dirty="0"/>
              <a:t>→ LLM → </a:t>
            </a:r>
            <a:r>
              <a:rPr lang="en-US" sz="2400" dirty="0" smtClean="0"/>
              <a:t>Output</a:t>
            </a:r>
          </a:p>
          <a:p>
            <a:pPr>
              <a:lnSpc>
                <a:spcPct val="200000"/>
              </a:lnSpc>
            </a:pPr>
            <a:r>
              <a:rPr lang="en-US" sz="2400" dirty="0" smtClean="0"/>
              <a:t>Agent: Input → Think → </a:t>
            </a:r>
            <a:r>
              <a:rPr lang="en-US" sz="2400" dirty="0"/>
              <a:t>Choose </a:t>
            </a:r>
            <a:r>
              <a:rPr lang="en-US" sz="2400" dirty="0" smtClean="0"/>
              <a:t>tool → </a:t>
            </a:r>
            <a:r>
              <a:rPr lang="en-US" sz="2400" dirty="0"/>
              <a:t>Use </a:t>
            </a:r>
            <a:r>
              <a:rPr lang="en-US" sz="2400" dirty="0" smtClean="0"/>
              <a:t>tool → Observe</a:t>
            </a:r>
            <a:r>
              <a:rPr lang="en-US" sz="2400" dirty="0"/>
              <a:t> → </a:t>
            </a:r>
            <a:r>
              <a:rPr lang="en-US" sz="2400" dirty="0" smtClean="0"/>
              <a:t>     	</a:t>
            </a:r>
            <a:r>
              <a:rPr lang="en-US" sz="2400" dirty="0"/>
              <a:t> → </a:t>
            </a:r>
            <a:r>
              <a:rPr lang="en-US" sz="2400" dirty="0" smtClean="0"/>
              <a:t>Think again → Repeat → </a:t>
            </a:r>
            <a:r>
              <a:rPr lang="en-US" sz="2400" dirty="0"/>
              <a:t>Final answer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7099100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28822"/>
            <a:ext cx="8596668" cy="5137985"/>
          </a:xfrm>
        </p:spPr>
        <p:txBody>
          <a:bodyPr>
            <a:normAutofit/>
          </a:bodyPr>
          <a:lstStyle/>
          <a:p>
            <a:r>
              <a:rPr lang="en-US" sz="2400" dirty="0"/>
              <a:t>This allows LLMs to:</a:t>
            </a:r>
          </a:p>
          <a:p>
            <a:r>
              <a:rPr lang="en-US" sz="2400" dirty="0"/>
              <a:t>Search the web</a:t>
            </a:r>
          </a:p>
          <a:p>
            <a:r>
              <a:rPr lang="en-US" sz="2400" dirty="0"/>
              <a:t>Query databases</a:t>
            </a:r>
          </a:p>
          <a:p>
            <a:r>
              <a:rPr lang="en-US" sz="2400" dirty="0"/>
              <a:t>Call APIs</a:t>
            </a:r>
          </a:p>
          <a:p>
            <a:r>
              <a:rPr lang="en-US" sz="2400" dirty="0"/>
              <a:t>Run functions</a:t>
            </a:r>
          </a:p>
          <a:p>
            <a:r>
              <a:rPr lang="en-US" sz="2400" dirty="0"/>
              <a:t>Look up current info</a:t>
            </a:r>
          </a:p>
          <a:p>
            <a:r>
              <a:rPr lang="en-US" sz="2400" dirty="0"/>
              <a:t>Execute code</a:t>
            </a:r>
          </a:p>
          <a:p>
            <a:r>
              <a:rPr lang="en-US" sz="2400" dirty="0"/>
              <a:t>Use calculators</a:t>
            </a:r>
          </a:p>
          <a:p>
            <a:r>
              <a:rPr lang="en-US" sz="2400" dirty="0"/>
              <a:t>Access private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99087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26967"/>
            <a:ext cx="8596668" cy="1320800"/>
          </a:xfrm>
        </p:spPr>
        <p:txBody>
          <a:bodyPr/>
          <a:lstStyle/>
          <a:p>
            <a:r>
              <a:rPr lang="en-US" b="1" dirty="0"/>
              <a:t>Why Agents Are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987367"/>
            <a:ext cx="8596668" cy="556193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LLMs: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❌ Have a knowledge cutoff</a:t>
            </a:r>
            <a:br>
              <a:rPr lang="en-US" sz="2400" dirty="0"/>
            </a:br>
            <a:r>
              <a:rPr lang="en-US" sz="2400" dirty="0"/>
              <a:t>❌ Can hallucinate</a:t>
            </a:r>
            <a:br>
              <a:rPr lang="en-US" sz="2400" dirty="0"/>
            </a:br>
            <a:r>
              <a:rPr lang="en-US" sz="2400" dirty="0"/>
              <a:t>❌ Don’t have real-time info</a:t>
            </a:r>
            <a:br>
              <a:rPr lang="en-US" sz="2400" dirty="0"/>
            </a:br>
            <a:r>
              <a:rPr lang="en-US" sz="2400" dirty="0"/>
              <a:t>❌ Can’t call APIs on their own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Agents solve this.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11638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Agents Work (Core Loop)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695077"/>
            <a:ext cx="10378593" cy="1480386"/>
          </a:xfrm>
        </p:spPr>
        <p:txBody>
          <a:bodyPr>
            <a:normAutofit/>
          </a:bodyPr>
          <a:lstStyle/>
          <a:p>
            <a:r>
              <a:rPr lang="en-US" sz="2400" dirty="0"/>
              <a:t>The </a:t>
            </a:r>
            <a:r>
              <a:rPr lang="en-US" sz="2400" dirty="0" err="1"/>
              <a:t>ReAct</a:t>
            </a:r>
            <a:r>
              <a:rPr lang="en-US" sz="2400" dirty="0"/>
              <a:t> framework (Reason + Act</a:t>
            </a:r>
            <a:r>
              <a:rPr lang="en-US" sz="2400" dirty="0" smtClean="0"/>
              <a:t>):</a:t>
            </a:r>
          </a:p>
          <a:p>
            <a:r>
              <a:rPr lang="en-US" sz="2400" dirty="0"/>
              <a:t>Thought → Action → Observation → Thought → Action → …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35946479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Tools </a:t>
            </a:r>
            <a:r>
              <a:rPr lang="en-US" b="1" dirty="0"/>
              <a:t>in </a:t>
            </a:r>
            <a:r>
              <a:rPr lang="en-US" b="1" dirty="0" err="1"/>
              <a:t>LangChain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78945"/>
            <a:ext cx="8596668" cy="5204488"/>
          </a:xfrm>
        </p:spPr>
        <p:txBody>
          <a:bodyPr>
            <a:normAutofit/>
          </a:bodyPr>
          <a:lstStyle/>
          <a:p>
            <a:r>
              <a:rPr lang="en-US" sz="2400" dirty="0"/>
              <a:t>A </a:t>
            </a:r>
            <a:r>
              <a:rPr lang="en-US" sz="2400" b="1" dirty="0"/>
              <a:t>tool</a:t>
            </a:r>
            <a:r>
              <a:rPr lang="en-US" sz="2400" dirty="0"/>
              <a:t> is anything an agent can call.</a:t>
            </a:r>
          </a:p>
          <a:p>
            <a:r>
              <a:rPr lang="en-US" sz="2400" dirty="0"/>
              <a:t>Examples:</a:t>
            </a:r>
          </a:p>
          <a:p>
            <a:r>
              <a:rPr lang="en-US" sz="2400" dirty="0"/>
              <a:t>Web search</a:t>
            </a:r>
          </a:p>
          <a:p>
            <a:r>
              <a:rPr lang="en-US" sz="2400" dirty="0"/>
              <a:t>Wikipedia</a:t>
            </a:r>
          </a:p>
          <a:p>
            <a:r>
              <a:rPr lang="en-US" sz="2400" dirty="0"/>
              <a:t>Calculator</a:t>
            </a:r>
          </a:p>
          <a:p>
            <a:r>
              <a:rPr lang="en-US" sz="2400" dirty="0"/>
              <a:t>SQL database</a:t>
            </a:r>
          </a:p>
          <a:p>
            <a:r>
              <a:rPr lang="en-US" sz="2400" dirty="0"/>
              <a:t>Weather API</a:t>
            </a:r>
          </a:p>
          <a:p>
            <a:r>
              <a:rPr lang="en-US" sz="2400" dirty="0"/>
              <a:t>Your own Python function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927208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Built-In Tools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102163"/>
              </p:ext>
            </p:extLst>
          </p:nvPr>
        </p:nvGraphicFramePr>
        <p:xfrm>
          <a:off x="677862" y="1930400"/>
          <a:ext cx="8596140" cy="4289370"/>
        </p:xfrm>
        <a:graphic>
          <a:graphicData uri="http://schemas.openxmlformats.org/drawingml/2006/table">
            <a:tbl>
              <a:tblPr/>
              <a:tblGrid>
                <a:gridCol w="4298070"/>
                <a:gridCol w="4298070"/>
              </a:tblGrid>
              <a:tr h="714895">
                <a:tc>
                  <a:txBody>
                    <a:bodyPr/>
                    <a:lstStyle/>
                    <a:p>
                      <a:r>
                        <a:rPr lang="en-US" sz="2400" b="1" dirty="0"/>
                        <a:t>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4895">
                <a:tc>
                  <a:txBody>
                    <a:bodyPr/>
                    <a:lstStyle/>
                    <a:p>
                      <a:r>
                        <a:rPr lang="en-US" sz="2400"/>
                        <a:t>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Real-time info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4895">
                <a:tc>
                  <a:txBody>
                    <a:bodyPr/>
                    <a:lstStyle/>
                    <a:p>
                      <a:r>
                        <a:rPr lang="en-US" sz="2400"/>
                        <a:t>Wikipedia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Factual info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4895">
                <a:tc>
                  <a:txBody>
                    <a:bodyPr/>
                    <a:lstStyle/>
                    <a:p>
                      <a:r>
                        <a:rPr lang="en-US" sz="2400"/>
                        <a:t>Calculator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Math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4895">
                <a:tc>
                  <a:txBody>
                    <a:bodyPr/>
                    <a:lstStyle/>
                    <a:p>
                      <a:r>
                        <a:rPr lang="en-US" sz="2400"/>
                        <a:t>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Code execution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4895">
                <a:tc>
                  <a:txBody>
                    <a:bodyPr/>
                    <a:lstStyle/>
                    <a:p>
                      <a:r>
                        <a:rPr lang="en-US" sz="2400"/>
                        <a:t>Requests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226139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Tool Descriptions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61825"/>
            <a:ext cx="8596668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Agents decide what tool to use </a:t>
            </a:r>
            <a:r>
              <a:rPr lang="en-US" sz="2400" b="1" dirty="0"/>
              <a:t>only from the tool description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So descriptions must be:</a:t>
            </a:r>
            <a:br>
              <a:rPr lang="en-US" sz="2400" dirty="0"/>
            </a:br>
            <a:r>
              <a:rPr lang="en-US" sz="2400" dirty="0"/>
              <a:t>✔ Clear</a:t>
            </a:r>
            <a:br>
              <a:rPr lang="en-US" sz="2400" dirty="0"/>
            </a:br>
            <a:r>
              <a:rPr lang="en-US" sz="2400" dirty="0"/>
              <a:t>✔ Precise</a:t>
            </a:r>
            <a:br>
              <a:rPr lang="en-US" sz="2400" dirty="0"/>
            </a:br>
            <a:r>
              <a:rPr lang="en-US" sz="2400" dirty="0"/>
              <a:t>✔ Specific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3330800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93469"/>
            <a:ext cx="8596668" cy="1320800"/>
          </a:xfrm>
        </p:spPr>
        <p:txBody>
          <a:bodyPr/>
          <a:lstStyle/>
          <a:p>
            <a:r>
              <a:rPr lang="en-US" b="1" dirty="0"/>
              <a:t>Example: 2022 World Cup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179687"/>
            <a:ext cx="8865677" cy="5403993"/>
          </a:xfrm>
        </p:spPr>
        <p:txBody>
          <a:bodyPr>
            <a:normAutofit/>
          </a:bodyPr>
          <a:lstStyle/>
          <a:p>
            <a:r>
              <a:rPr lang="en-US" sz="2400" dirty="0"/>
              <a:t>Model training cutoff: ~2021</a:t>
            </a:r>
            <a:br>
              <a:rPr lang="en-US" sz="2400" dirty="0"/>
            </a:br>
            <a:r>
              <a:rPr lang="en-US" sz="2400" dirty="0"/>
              <a:t>So it </a:t>
            </a:r>
            <a:r>
              <a:rPr lang="en-US" sz="2400" b="1" dirty="0"/>
              <a:t>does not know</a:t>
            </a:r>
            <a:r>
              <a:rPr lang="en-US" sz="2400" dirty="0"/>
              <a:t> the 2022 winner.</a:t>
            </a:r>
          </a:p>
          <a:p>
            <a:r>
              <a:rPr lang="en-US" sz="2400" dirty="0"/>
              <a:t>Agent behavior:</a:t>
            </a:r>
          </a:p>
          <a:p>
            <a:r>
              <a:rPr lang="en-US" sz="2400" dirty="0"/>
              <a:t>Realizes it doesn’t know</a:t>
            </a:r>
          </a:p>
          <a:p>
            <a:r>
              <a:rPr lang="en-US" sz="2400" dirty="0"/>
              <a:t>Uses web search tool</a:t>
            </a:r>
          </a:p>
          <a:p>
            <a:r>
              <a:rPr lang="en-US" sz="2400" dirty="0"/>
              <a:t>Reads result</a:t>
            </a:r>
          </a:p>
          <a:p>
            <a:r>
              <a:rPr lang="en-US" sz="2400" dirty="0"/>
              <a:t>Thinks</a:t>
            </a:r>
          </a:p>
          <a:p>
            <a:r>
              <a:rPr lang="en-US" sz="2400" dirty="0"/>
              <a:t>Answers</a:t>
            </a:r>
          </a:p>
          <a:p>
            <a:r>
              <a:rPr lang="en-US" sz="2400" dirty="0"/>
              <a:t>This is intelligence-like behavior.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9175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Agents Are Experimental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5114175"/>
          </a:xfrm>
        </p:spPr>
        <p:txBody>
          <a:bodyPr>
            <a:normAutofit/>
          </a:bodyPr>
          <a:lstStyle/>
          <a:p>
            <a:r>
              <a:rPr lang="en-US" sz="2400" dirty="0"/>
              <a:t>Agents:</a:t>
            </a:r>
          </a:p>
          <a:p>
            <a:r>
              <a:rPr lang="en-US" sz="2400" dirty="0"/>
              <a:t>Can make mistakes</a:t>
            </a:r>
          </a:p>
          <a:p>
            <a:r>
              <a:rPr lang="en-US" sz="2400" dirty="0"/>
              <a:t>Can loop</a:t>
            </a:r>
          </a:p>
          <a:p>
            <a:r>
              <a:rPr lang="en-US" sz="2400" dirty="0"/>
              <a:t>Can hallucinate</a:t>
            </a:r>
          </a:p>
          <a:p>
            <a:r>
              <a:rPr lang="en-US" sz="2400" dirty="0"/>
              <a:t>Can misuse tools</a:t>
            </a:r>
          </a:p>
          <a:p>
            <a:r>
              <a:rPr lang="en-US" sz="2400" dirty="0"/>
              <a:t>So they must be:</a:t>
            </a:r>
            <a:br>
              <a:rPr lang="en-US" sz="2400" dirty="0"/>
            </a:br>
            <a:r>
              <a:rPr lang="en-US" sz="2400" dirty="0"/>
              <a:t>✔ Guarded</a:t>
            </a:r>
            <a:br>
              <a:rPr lang="en-US" sz="2400" dirty="0"/>
            </a:br>
            <a:r>
              <a:rPr lang="en-US" sz="2400" dirty="0"/>
              <a:t>✔ Monitored</a:t>
            </a:r>
            <a:br>
              <a:rPr lang="en-US" sz="2400" dirty="0"/>
            </a:br>
            <a:r>
              <a:rPr lang="en-US" sz="2400" dirty="0"/>
              <a:t>✔ Tested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908339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93963"/>
            <a:ext cx="8596668" cy="1320800"/>
          </a:xfrm>
        </p:spPr>
        <p:txBody>
          <a:bodyPr/>
          <a:lstStyle/>
          <a:p>
            <a:r>
              <a:rPr lang="en-US" b="1" dirty="0"/>
              <a:t>Example: Wikipedia Tool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113921"/>
            <a:ext cx="5624040" cy="5009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asks: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book did Tom M. Mitchell write?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Agent: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Thinks → I need Wikipedia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Searches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Reads page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Confirms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131327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LLM does NOT just answer.</a:t>
            </a:r>
          </a:p>
          <a:p>
            <a:r>
              <a:rPr lang="en-US" sz="2400" dirty="0"/>
              <a:t>It </a:t>
            </a:r>
            <a:r>
              <a:rPr lang="en-US" sz="2400" b="1" dirty="0"/>
              <a:t>decides</a:t>
            </a:r>
            <a:r>
              <a:rPr lang="en-US" sz="2400" dirty="0"/>
              <a:t> how to answer.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251958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Custom Tools (Most Important Part)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45447"/>
            <a:ext cx="8596668" cy="531255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You can create your own tools.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This allows agents to interact with: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✔ Your database</a:t>
            </a:r>
            <a:br>
              <a:rPr lang="en-US" sz="2400" dirty="0"/>
            </a:br>
            <a:r>
              <a:rPr lang="en-US" sz="2400" dirty="0"/>
              <a:t>✔ Your APIs</a:t>
            </a:r>
            <a:br>
              <a:rPr lang="en-US" sz="2400" dirty="0"/>
            </a:br>
            <a:r>
              <a:rPr lang="en-US" sz="2400" dirty="0"/>
              <a:t>✔ Your ERP</a:t>
            </a:r>
            <a:br>
              <a:rPr lang="en-US" sz="2400" dirty="0"/>
            </a:br>
            <a:r>
              <a:rPr lang="en-US" sz="2400" dirty="0"/>
              <a:t>✔ Your CRM</a:t>
            </a:r>
            <a:br>
              <a:rPr lang="en-US" sz="2400" dirty="0"/>
            </a:br>
            <a:r>
              <a:rPr lang="en-US" sz="2400" dirty="0"/>
              <a:t>✔ Your LMS</a:t>
            </a:r>
            <a:br>
              <a:rPr lang="en-US" sz="2400" dirty="0"/>
            </a:br>
            <a:r>
              <a:rPr lang="en-US" sz="2400" dirty="0"/>
              <a:t>✔ Your internal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301773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Custom Tool?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tool = a Python function + a </a:t>
            </a:r>
            <a:r>
              <a:rPr lang="en-US" sz="2400" dirty="0" smtClean="0"/>
              <a:t>description</a:t>
            </a:r>
          </a:p>
          <a:p>
            <a:r>
              <a:rPr lang="en-US" sz="2400" b="1" dirty="0"/>
              <a:t>Why Description Is Crucial</a:t>
            </a:r>
          </a:p>
          <a:p>
            <a:r>
              <a:rPr lang="en-US" sz="2400" dirty="0"/>
              <a:t>The LLM uses the description to decide:</a:t>
            </a:r>
          </a:p>
          <a:p>
            <a:r>
              <a:rPr lang="en-US" sz="2400" dirty="0"/>
              <a:t>When to use it</a:t>
            </a:r>
          </a:p>
          <a:p>
            <a:r>
              <a:rPr lang="en-US" sz="2400" dirty="0"/>
              <a:t>How to use it</a:t>
            </a:r>
          </a:p>
          <a:p>
            <a:r>
              <a:rPr lang="en-US" sz="2400" dirty="0"/>
              <a:t>What input to give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94142861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10094"/>
            <a:ext cx="8596668" cy="1320800"/>
          </a:xfrm>
        </p:spPr>
        <p:txBody>
          <a:bodyPr/>
          <a:lstStyle/>
          <a:p>
            <a:r>
              <a:rPr lang="en-US" b="1" dirty="0"/>
              <a:t>Example: Date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45447"/>
            <a:ext cx="8596668" cy="3880773"/>
          </a:xfrm>
        </p:spPr>
        <p:txBody>
          <a:bodyPr/>
          <a:lstStyle/>
          <a:p>
            <a:r>
              <a:rPr lang="en-US" sz="2400" dirty="0"/>
              <a:t>You created a tool that returns today’s date.</a:t>
            </a:r>
          </a:p>
          <a:p>
            <a:r>
              <a:rPr lang="en-US" sz="2400" dirty="0"/>
              <a:t>The agent:</a:t>
            </a:r>
          </a:p>
          <a:p>
            <a:r>
              <a:rPr lang="en-US" sz="2400" dirty="0"/>
              <a:t>Recognizes it needs current info</a:t>
            </a:r>
          </a:p>
          <a:p>
            <a:r>
              <a:rPr lang="en-US" sz="2400" dirty="0"/>
              <a:t>Calls the tool</a:t>
            </a:r>
          </a:p>
          <a:p>
            <a:r>
              <a:rPr lang="en-US" sz="2400" dirty="0"/>
              <a:t>Gets date</a:t>
            </a:r>
          </a:p>
          <a:p>
            <a:r>
              <a:rPr lang="en-US" sz="2400" dirty="0"/>
              <a:t>Responds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237814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93222"/>
            <a:ext cx="8596668" cy="1320800"/>
          </a:xfrm>
        </p:spPr>
        <p:txBody>
          <a:bodyPr/>
          <a:lstStyle/>
          <a:p>
            <a:r>
              <a:rPr lang="en-US" b="1" dirty="0"/>
              <a:t>Why This Is Revolutionary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371270"/>
            <a:ext cx="3601242" cy="2932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are no longer just: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Prompting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are: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Building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systems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296514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Agents vs Chains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258689"/>
              </p:ext>
            </p:extLst>
          </p:nvPr>
        </p:nvGraphicFramePr>
        <p:xfrm>
          <a:off x="677690" y="1597889"/>
          <a:ext cx="8596312" cy="4071390"/>
        </p:xfrm>
        <a:graphic>
          <a:graphicData uri="http://schemas.openxmlformats.org/drawingml/2006/table">
            <a:tbl>
              <a:tblPr/>
              <a:tblGrid>
                <a:gridCol w="4298156"/>
                <a:gridCol w="4298156"/>
              </a:tblGrid>
              <a:tr h="678565">
                <a:tc>
                  <a:txBody>
                    <a:bodyPr/>
                    <a:lstStyle/>
                    <a:p>
                      <a:r>
                        <a:rPr lang="en-US" sz="2400" b="1" dirty="0"/>
                        <a:t>Chains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Agents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8565">
                <a:tc>
                  <a:txBody>
                    <a:bodyPr/>
                    <a:lstStyle/>
                    <a:p>
                      <a:r>
                        <a:rPr lang="en-US" sz="2400" dirty="0"/>
                        <a:t>Fixed flow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Dynamic flow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8565">
                <a:tc>
                  <a:txBody>
                    <a:bodyPr/>
                    <a:lstStyle/>
                    <a:p>
                      <a:r>
                        <a:rPr lang="en-US" sz="2400" dirty="0"/>
                        <a:t>Predefined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Adaptive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8565">
                <a:tc>
                  <a:txBody>
                    <a:bodyPr/>
                    <a:lstStyle/>
                    <a:p>
                      <a:r>
                        <a:rPr lang="en-US" sz="2400"/>
                        <a:t>Deterministic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Reasoning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8565">
                <a:tc>
                  <a:txBody>
                    <a:bodyPr/>
                    <a:lstStyle/>
                    <a:p>
                      <a:r>
                        <a:rPr lang="en-US" sz="2400"/>
                        <a:t>Passive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8565">
                <a:tc>
                  <a:txBody>
                    <a:bodyPr/>
                    <a:lstStyle/>
                    <a:p>
                      <a:r>
                        <a:rPr lang="en-US" sz="2400"/>
                        <a:t>Single path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Multi-path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704513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When to Use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11949"/>
            <a:ext cx="8596668" cy="3880773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Use agents when: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✔ The path is unknown</a:t>
            </a:r>
            <a:br>
              <a:rPr lang="en-US" sz="2400" dirty="0"/>
            </a:br>
            <a:r>
              <a:rPr lang="en-US" sz="2400" dirty="0"/>
              <a:t>✔ The steps are dynamic</a:t>
            </a:r>
            <a:br>
              <a:rPr lang="en-US" sz="2400" dirty="0"/>
            </a:br>
            <a:r>
              <a:rPr lang="en-US" sz="2400" dirty="0"/>
              <a:t>✔ The system must decide</a:t>
            </a:r>
            <a:br>
              <a:rPr lang="en-US" sz="2400" dirty="0"/>
            </a:br>
            <a:r>
              <a:rPr lang="en-US" sz="2400" dirty="0"/>
              <a:t>✔ You have tools</a:t>
            </a:r>
            <a:br>
              <a:rPr lang="en-US" sz="2400" dirty="0"/>
            </a:br>
            <a:r>
              <a:rPr lang="en-US" sz="2400" dirty="0"/>
              <a:t>✔ You need autonomy</a:t>
            </a:r>
          </a:p>
          <a:p>
            <a:pPr>
              <a:lnSpc>
                <a:spcPct val="20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41720447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When NOT to Use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445695"/>
            <a:ext cx="9397691" cy="54123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Don’t use agents when: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❌ Simple workflow</a:t>
            </a:r>
            <a:br>
              <a:rPr lang="en-US" sz="2400" dirty="0"/>
            </a:br>
            <a:r>
              <a:rPr lang="en-US" sz="2400" dirty="0"/>
              <a:t>❌ Fixed steps</a:t>
            </a:r>
            <a:br>
              <a:rPr lang="en-US" sz="2400" dirty="0"/>
            </a:br>
            <a:r>
              <a:rPr lang="en-US" sz="2400" dirty="0"/>
              <a:t>❌ Deterministic output</a:t>
            </a:r>
            <a:br>
              <a:rPr lang="en-US" sz="2400" dirty="0"/>
            </a:br>
            <a:r>
              <a:rPr lang="en-US" sz="2400" dirty="0"/>
              <a:t>❌ Cost sensitive</a:t>
            </a:r>
            <a:br>
              <a:rPr lang="en-US" sz="2400" dirty="0"/>
            </a:br>
            <a:r>
              <a:rPr lang="en-US" sz="2400" dirty="0"/>
              <a:t>❌ High reliability required</a:t>
            </a:r>
          </a:p>
          <a:p>
            <a:pPr>
              <a:lnSpc>
                <a:spcPct val="200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45138110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Real-World Agent Use Cases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881374"/>
              </p:ext>
            </p:extLst>
          </p:nvPr>
        </p:nvGraphicFramePr>
        <p:xfrm>
          <a:off x="677334" y="1930400"/>
          <a:ext cx="8596312" cy="4010279"/>
        </p:xfrm>
        <a:graphic>
          <a:graphicData uri="http://schemas.openxmlformats.org/drawingml/2006/table">
            <a:tbl>
              <a:tblPr/>
              <a:tblGrid>
                <a:gridCol w="4298156"/>
                <a:gridCol w="4298156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/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/>
                        <a:t>Research assistant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/>
                        <a:t>Web + summarization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/>
                        <a:t>Customer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/>
                        <a:t>DB + FAQs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/>
                        <a:t>HR bot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/>
                        <a:t>Policy + employee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/>
                        <a:t>Finance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/>
                        <a:t>Stock APIs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/>
                        <a:t>Travel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/>
                        <a:t>Booking + weather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/>
                        <a:t>Education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/>
                        <a:t>LMS + grading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1719320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Risks of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45447"/>
            <a:ext cx="8596668" cy="5104735"/>
          </a:xfrm>
        </p:spPr>
        <p:txBody>
          <a:bodyPr>
            <a:normAutofit/>
          </a:bodyPr>
          <a:lstStyle/>
          <a:p>
            <a:r>
              <a:rPr lang="en-US" sz="2400" dirty="0"/>
              <a:t>Agents can:</a:t>
            </a:r>
          </a:p>
          <a:p>
            <a:r>
              <a:rPr lang="en-US" sz="2400" dirty="0"/>
              <a:t>Hallucinate tool calls</a:t>
            </a:r>
          </a:p>
          <a:p>
            <a:r>
              <a:rPr lang="en-US" sz="2400" dirty="0"/>
              <a:t>Misuse tools</a:t>
            </a:r>
          </a:p>
          <a:p>
            <a:r>
              <a:rPr lang="en-US" sz="2400" dirty="0"/>
              <a:t>Loop forever</a:t>
            </a:r>
          </a:p>
          <a:p>
            <a:r>
              <a:rPr lang="en-US" sz="2400" dirty="0"/>
              <a:t>Make unsafe decisions</a:t>
            </a:r>
          </a:p>
          <a:p>
            <a:r>
              <a:rPr lang="en-US" sz="2400" dirty="0"/>
              <a:t>So they must be:</a:t>
            </a:r>
            <a:br>
              <a:rPr lang="en-US" sz="2400" dirty="0"/>
            </a:br>
            <a:r>
              <a:rPr lang="en-US" sz="2400" dirty="0"/>
              <a:t>✔ Constrained</a:t>
            </a:r>
            <a:br>
              <a:rPr lang="en-US" sz="2400" dirty="0"/>
            </a:br>
            <a:r>
              <a:rPr lang="en-US" sz="2400" dirty="0"/>
              <a:t>✔ Logged</a:t>
            </a:r>
            <a:br>
              <a:rPr lang="en-US" sz="2400" dirty="0"/>
            </a:br>
            <a:r>
              <a:rPr lang="en-US" sz="2400" dirty="0"/>
              <a:t>✔ Monitored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889493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Agent = LLM + Control System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720405"/>
            <a:ext cx="7127913" cy="2932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a very important concept.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agent is not just an LLM.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is: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reasoning loop + tools + memory + constraints</a:t>
            </a:r>
          </a:p>
        </p:txBody>
      </p:sp>
    </p:spTree>
    <p:extLst>
      <p:ext uri="{BB962C8B-B14F-4D97-AF65-F5344CB8AC3E}">
        <p14:creationId xmlns:p14="http://schemas.microsoft.com/office/powerpoint/2010/main" val="1748434314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One-Line Exam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An agent in </a:t>
            </a:r>
            <a:r>
              <a:rPr lang="en-US" sz="2400" dirty="0" err="1"/>
              <a:t>LangChain</a:t>
            </a:r>
            <a:r>
              <a:rPr lang="en-US" sz="2400" dirty="0"/>
              <a:t> is an LLM-driven reasoning system that can dynamically decide actions, call tools, observe results, and iterate before producing a final answer.</a:t>
            </a:r>
          </a:p>
        </p:txBody>
      </p:sp>
    </p:spTree>
    <p:extLst>
      <p:ext uri="{BB962C8B-B14F-4D97-AF65-F5344CB8AC3E}">
        <p14:creationId xmlns:p14="http://schemas.microsoft.com/office/powerpoint/2010/main" val="1648948550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2352" y="193963"/>
            <a:ext cx="8596668" cy="1320800"/>
          </a:xfrm>
        </p:spPr>
        <p:txBody>
          <a:bodyPr/>
          <a:lstStyle/>
          <a:p>
            <a:r>
              <a:rPr lang="en-US" dirty="0"/>
              <a:t>You have now covered: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614048"/>
            <a:ext cx="4166525" cy="5886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Prompts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Parsers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Chains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 ← ⭐ Most advanced</a:t>
            </a:r>
          </a:p>
        </p:txBody>
      </p:sp>
    </p:spTree>
    <p:extLst>
      <p:ext uri="{BB962C8B-B14F-4D97-AF65-F5344CB8AC3E}">
        <p14:creationId xmlns:p14="http://schemas.microsoft.com/office/powerpoint/2010/main" val="880096789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Comes Next?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29069"/>
            <a:ext cx="8596668" cy="493848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After agents, the natural next topics are: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✔ Tool calling</a:t>
            </a:r>
            <a:br>
              <a:rPr lang="en-US" sz="2400" dirty="0"/>
            </a:br>
            <a:r>
              <a:rPr lang="en-US" sz="2400" dirty="0"/>
              <a:t>✔ Multi-agent systems</a:t>
            </a:r>
            <a:br>
              <a:rPr lang="en-US" sz="2400" dirty="0"/>
            </a:br>
            <a:r>
              <a:rPr lang="en-US" sz="2400" dirty="0"/>
              <a:t>✔ Planning</a:t>
            </a:r>
            <a:br>
              <a:rPr lang="en-US" sz="2400" dirty="0"/>
            </a:br>
            <a:r>
              <a:rPr lang="en-US" sz="2400" dirty="0"/>
              <a:t>✔ Long-term memory</a:t>
            </a:r>
            <a:br>
              <a:rPr lang="en-US" sz="2400" dirty="0"/>
            </a:br>
            <a:r>
              <a:rPr lang="en-US" sz="2400" dirty="0"/>
              <a:t>✔ Guardrails</a:t>
            </a:r>
            <a:br>
              <a:rPr lang="en-US" sz="2400" dirty="0"/>
            </a:br>
            <a:r>
              <a:rPr lang="en-US" sz="2400" dirty="0"/>
              <a:t>✔ Human-in-the-loop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565585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884" y="609600"/>
            <a:ext cx="8958118" cy="1320800"/>
          </a:xfrm>
        </p:spPr>
        <p:txBody>
          <a:bodyPr/>
          <a:lstStyle/>
          <a:p>
            <a:r>
              <a:rPr lang="en-US" b="1" dirty="0"/>
              <a:t>Important Truth</a:t>
            </a:r>
            <a:r>
              <a:rPr lang="en-US" b="1" dirty="0" smtClean="0"/>
              <a:t>: LLMs </a:t>
            </a:r>
            <a:r>
              <a:rPr lang="en-US" b="1" dirty="0"/>
              <a:t>do not </a:t>
            </a:r>
            <a:r>
              <a:rPr lang="en-US" b="1" dirty="0" smtClean="0"/>
              <a:t>remember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Memory is: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Just text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Re-injected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Every </a:t>
            </a:r>
            <a:r>
              <a:rPr lang="en-US" sz="2400" dirty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415390581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957" y="315884"/>
            <a:ext cx="8596668" cy="1320800"/>
          </a:xfrm>
        </p:spPr>
        <p:txBody>
          <a:bodyPr/>
          <a:lstStyle/>
          <a:p>
            <a:r>
              <a:rPr lang="en-US" b="1" dirty="0"/>
              <a:t>Advanced Memory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202" y="1270000"/>
            <a:ext cx="8932179" cy="5446684"/>
          </a:xfrm>
        </p:spPr>
        <p:txBody>
          <a:bodyPr>
            <a:normAutofit/>
          </a:bodyPr>
          <a:lstStyle/>
          <a:p>
            <a:r>
              <a:rPr lang="en-US" sz="2400" dirty="0" err="1"/>
              <a:t>LangChain</a:t>
            </a:r>
            <a:r>
              <a:rPr lang="en-US" sz="2400" dirty="0"/>
              <a:t> also supports:</a:t>
            </a:r>
          </a:p>
          <a:p>
            <a:r>
              <a:rPr lang="en-US" sz="2400" b="1" dirty="0"/>
              <a:t>Vector Memory</a:t>
            </a:r>
          </a:p>
          <a:p>
            <a:r>
              <a:rPr lang="en-US" sz="2400" dirty="0"/>
              <a:t>Uses </a:t>
            </a:r>
            <a:r>
              <a:rPr lang="en-US" sz="2400" dirty="0" err="1"/>
              <a:t>embeddings</a:t>
            </a:r>
            <a:endParaRPr lang="en-US" sz="2400" dirty="0"/>
          </a:p>
          <a:p>
            <a:r>
              <a:rPr lang="en-US" sz="2400" dirty="0"/>
              <a:t>Stores semantic meaning</a:t>
            </a:r>
          </a:p>
          <a:p>
            <a:r>
              <a:rPr lang="en-US" sz="2400" dirty="0"/>
              <a:t>Retrieves relevant past info</a:t>
            </a:r>
          </a:p>
          <a:p>
            <a:r>
              <a:rPr lang="en-US" sz="2400" b="1" dirty="0"/>
              <a:t>Entity Memory</a:t>
            </a:r>
          </a:p>
          <a:p>
            <a:r>
              <a:rPr lang="en-US" sz="2400" dirty="0"/>
              <a:t>Stores facts about people</a:t>
            </a:r>
          </a:p>
          <a:p>
            <a:r>
              <a:rPr lang="en-US" sz="2400" dirty="0"/>
              <a:t>Example:</a:t>
            </a:r>
          </a:p>
          <a:p>
            <a:pPr lvl="1"/>
            <a:r>
              <a:rPr lang="en-US" sz="2400" dirty="0"/>
              <a:t>"John is a doctor"</a:t>
            </a:r>
          </a:p>
          <a:p>
            <a:pPr lvl="1"/>
            <a:r>
              <a:rPr lang="en-US" sz="2400" dirty="0"/>
              <a:t>"Mary lives in Delhi"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925178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Real-World Use Cases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14154"/>
              </p:ext>
            </p:extLst>
          </p:nvPr>
        </p:nvGraphicFramePr>
        <p:xfrm>
          <a:off x="677334" y="1930400"/>
          <a:ext cx="8433416" cy="4187766"/>
        </p:xfrm>
        <a:graphic>
          <a:graphicData uri="http://schemas.openxmlformats.org/drawingml/2006/table">
            <a:tbl>
              <a:tblPr/>
              <a:tblGrid>
                <a:gridCol w="4216708"/>
                <a:gridCol w="4216708"/>
              </a:tblGrid>
              <a:tr h="697961">
                <a:tc>
                  <a:txBody>
                    <a:bodyPr/>
                    <a:lstStyle/>
                    <a:p>
                      <a:r>
                        <a:rPr lang="en-US" sz="2400" b="1" dirty="0"/>
                        <a:t>App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Memory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7961">
                <a:tc>
                  <a:txBody>
                    <a:bodyPr/>
                    <a:lstStyle/>
                    <a:p>
                      <a:r>
                        <a:rPr lang="en-US" sz="2400"/>
                        <a:t>Chatbot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Buffer / Summary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7961">
                <a:tc>
                  <a:txBody>
                    <a:bodyPr/>
                    <a:lstStyle/>
                    <a:p>
                      <a:r>
                        <a:rPr lang="en-US" sz="2400"/>
                        <a:t>Customer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Summary + Entity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7961">
                <a:tc>
                  <a:txBody>
                    <a:bodyPr/>
                    <a:lstStyle/>
                    <a:p>
                      <a:r>
                        <a:rPr lang="en-US" sz="2400"/>
                        <a:t>Personal Assistant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Entity + Vector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7961">
                <a:tc>
                  <a:txBody>
                    <a:bodyPr/>
                    <a:lstStyle/>
                    <a:p>
                      <a:r>
                        <a:rPr lang="en-US" sz="2400"/>
                        <a:t>Search Agent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Vector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7961">
                <a:tc>
                  <a:txBody>
                    <a:bodyPr/>
                    <a:lstStyle/>
                    <a:p>
                      <a:r>
                        <a:rPr lang="en-US" sz="2400"/>
                        <a:t>Tutoring Bot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Summary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261068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362</TotalTime>
  <Words>4315</Words>
  <Application>Microsoft Office PowerPoint</Application>
  <PresentationFormat>Widescreen</PresentationFormat>
  <Paragraphs>1124</Paragraphs>
  <Slides>168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168</vt:i4>
      </vt:variant>
    </vt:vector>
  </HeadingPairs>
  <TitlesOfParts>
    <vt:vector size="174" baseType="lpstr">
      <vt:lpstr>Arial Unicode MS</vt:lpstr>
      <vt:lpstr>Arial</vt:lpstr>
      <vt:lpstr>Trebuchet MS</vt:lpstr>
      <vt:lpstr>Wingdings</vt:lpstr>
      <vt:lpstr>Wingdings 3</vt:lpstr>
      <vt:lpstr>Facet</vt:lpstr>
      <vt:lpstr>LangChain For LLM </vt:lpstr>
      <vt:lpstr>Why This Course?</vt:lpstr>
      <vt:lpstr>PowerPoint Presentation</vt:lpstr>
      <vt:lpstr>Problem: Building full applications with LLMs becomes messy, repetitive, and hard to maintain.</vt:lpstr>
      <vt:lpstr>What is LangChain?</vt:lpstr>
      <vt:lpstr>LangChain is an open-source framework created by Harrison Chase to make LLM application development easier.</vt:lpstr>
      <vt:lpstr>Motivation Behind LangChain</vt:lpstr>
      <vt:lpstr>Example: Instead of everyone writing their own memory system, prompt templates, or chaining logic — LangChain standardizes these. </vt:lpstr>
      <vt:lpstr>Community and Open-Source Momentum</vt:lpstr>
      <vt:lpstr>Core Design Philosophy</vt:lpstr>
      <vt:lpstr>What You Will Learn in This Course</vt:lpstr>
      <vt:lpstr>PowerPoint Presentation</vt:lpstr>
      <vt:lpstr>PowerPoint Presentation</vt:lpstr>
      <vt:lpstr>PowerPoint Presentation</vt:lpstr>
      <vt:lpstr>PowerPoint Presentation</vt:lpstr>
      <vt:lpstr>Models, Prompts, and Parsers</vt:lpstr>
      <vt:lpstr>In this lesson, we study three foundational concepts of LangChain:</vt:lpstr>
      <vt:lpstr>Why LangChain Abstractions Are Needed</vt:lpstr>
      <vt:lpstr>Models in LangChain</vt:lpstr>
      <vt:lpstr>PowerPoint Presentation</vt:lpstr>
      <vt:lpstr>PowerPoint Presentation</vt:lpstr>
      <vt:lpstr>What is a Prompt?</vt:lpstr>
      <vt:lpstr>Prompt Templates (LangChain Solution)</vt:lpstr>
      <vt:lpstr>PowerPoint Presentation</vt:lpstr>
      <vt:lpstr>Why This Is Powerful</vt:lpstr>
      <vt:lpstr>Using the Prompt Template</vt:lpstr>
      <vt:lpstr>Real-World Use Case: Translation</vt:lpstr>
      <vt:lpstr>Why Prompt Templates Are Important</vt:lpstr>
      <vt:lpstr>Built-in Prompts in LangChain</vt:lpstr>
      <vt:lpstr>Output Parsing: Why It Matters</vt:lpstr>
      <vt:lpstr>What is an Output Parser?</vt:lpstr>
      <vt:lpstr>Example: Extracting Data from a Product Review</vt:lpstr>
      <vt:lpstr>The Problem Without Parsers</vt:lpstr>
      <vt:lpstr>LangChain Output Parsers</vt:lpstr>
      <vt:lpstr>Define the structured schema with Pydantic</vt:lpstr>
      <vt:lpstr>PowerPoint Presentation</vt:lpstr>
      <vt:lpstr>Parser-Driven Prompting</vt:lpstr>
      <vt:lpstr>Parsing the Output</vt:lpstr>
      <vt:lpstr>Why This Is Powerful</vt:lpstr>
      <vt:lpstr>Why This Matters</vt:lpstr>
      <vt:lpstr>Memory in LangChain</vt:lpstr>
      <vt:lpstr>Why Memory Is Needed</vt:lpstr>
      <vt:lpstr>How Chatbots Appear to Have Memory</vt:lpstr>
      <vt:lpstr>LangChain’s Role</vt:lpstr>
      <vt:lpstr>Basic Memory Example (Conversation Buffer)</vt:lpstr>
      <vt:lpstr>Why this works</vt:lpstr>
      <vt:lpstr>Inspecting Memory</vt:lpstr>
      <vt:lpstr>Problem With Full Buffer Memory</vt:lpstr>
      <vt:lpstr>Sliding Window Memory</vt:lpstr>
      <vt:lpstr>Behavior</vt:lpstr>
      <vt:lpstr>Token-Based Memory</vt:lpstr>
      <vt:lpstr>How It Works</vt:lpstr>
      <vt:lpstr>Summary-Based Memory (Very Important)</vt:lpstr>
      <vt:lpstr>How This Works</vt:lpstr>
      <vt:lpstr>Why This Is Powerful</vt:lpstr>
      <vt:lpstr>Visual Comparison </vt:lpstr>
      <vt:lpstr>One-Line Exam Summary</vt:lpstr>
      <vt:lpstr>Chains in LangChain</vt:lpstr>
      <vt:lpstr>What is a Chain?</vt:lpstr>
      <vt:lpstr>Why Chains Are Needed</vt:lpstr>
      <vt:lpstr>Old vs New LangChain Syntax</vt:lpstr>
      <vt:lpstr>The Simplest Chain</vt:lpstr>
      <vt:lpstr>What Happened?</vt:lpstr>
      <vt:lpstr>Why This Is Called a Chain</vt:lpstr>
      <vt:lpstr>Sequential Chains (Modern Way)</vt:lpstr>
      <vt:lpstr>Why This Is Powerful</vt:lpstr>
      <vt:lpstr>Multi-Input, Multi-Output Chains</vt:lpstr>
      <vt:lpstr>Key Rule: Variable Names Must Match</vt:lpstr>
      <vt:lpstr>Router Chains (Decision-Based Chains)</vt:lpstr>
      <vt:lpstr>Concept: Routing</vt:lpstr>
      <vt:lpstr>Why This Matters</vt:lpstr>
      <vt:lpstr>Why This Is Powerful</vt:lpstr>
      <vt:lpstr>Chains Over DataFrames</vt:lpstr>
      <vt:lpstr>Types of Chains</vt:lpstr>
      <vt:lpstr>One-Line Exam Summary</vt:lpstr>
      <vt:lpstr>Question Answering Over Documents (RAG)</vt:lpstr>
      <vt:lpstr>Why This Is Important</vt:lpstr>
      <vt:lpstr>The Core Problem</vt:lpstr>
      <vt:lpstr>The Solution:</vt:lpstr>
      <vt:lpstr>Pipeline</vt:lpstr>
      <vt:lpstr>This is where LangChain becomes powerful.</vt:lpstr>
      <vt:lpstr>What Are Embeddings?</vt:lpstr>
      <vt:lpstr>Why This Matters</vt:lpstr>
      <vt:lpstr>What Is a Vector Store?</vt:lpstr>
      <vt:lpstr>Chunking</vt:lpstr>
      <vt:lpstr>High-Level Flow</vt:lpstr>
      <vt:lpstr>Modern LangChain Setup</vt:lpstr>
      <vt:lpstr>Loading Documents</vt:lpstr>
      <vt:lpstr>Creating Embeddings</vt:lpstr>
      <vt:lpstr>Creating Vector Store</vt:lpstr>
      <vt:lpstr>Similarity Search</vt:lpstr>
      <vt:lpstr>Retriever</vt:lpstr>
      <vt:lpstr>Manual QA (Without Chain)</vt:lpstr>
      <vt:lpstr>RetrievalQA Chain (Automated)</vt:lpstr>
      <vt:lpstr>What "Stuff" Means: Chain types:</vt:lpstr>
      <vt:lpstr>Stuff Method</vt:lpstr>
      <vt:lpstr>Map-Reduce Method</vt:lpstr>
      <vt:lpstr>Refine Method</vt:lpstr>
      <vt:lpstr>Map-Rerank</vt:lpstr>
      <vt:lpstr>Why LangChain Is Powerful</vt:lpstr>
      <vt:lpstr>One-Line vs Full Control: LangChain gives you:</vt:lpstr>
      <vt:lpstr>Real-World Use Cases</vt:lpstr>
      <vt:lpstr>Why This Beats Fine-Tuning</vt:lpstr>
      <vt:lpstr>One-Line Exam Summary</vt:lpstr>
      <vt:lpstr>Evaluating LLM Applications</vt:lpstr>
      <vt:lpstr>Why Evaluation Is Hard for LLM Apps</vt:lpstr>
      <vt:lpstr>Why These Metrics Fail for LLMs</vt:lpstr>
      <vt:lpstr>Example:</vt:lpstr>
      <vt:lpstr>New Problem: How Do We Evaluate Text?</vt:lpstr>
      <vt:lpstr>Two Levels of Evaluation</vt:lpstr>
      <vt:lpstr>PowerPoint Presentation</vt:lpstr>
      <vt:lpstr>Step 1: Create an Evaluation Dataset</vt:lpstr>
      <vt:lpstr>Method 2: Automatic Dataset Creation  (LLM-Assisted)</vt:lpstr>
      <vt:lpstr>LLMs Can Create Their Own Test Data</vt:lpstr>
      <vt:lpstr>Why This Is Important</vt:lpstr>
      <vt:lpstr>Step 2: Debugging a Single Run</vt:lpstr>
      <vt:lpstr>LangChain Debugging Mode</vt:lpstr>
      <vt:lpstr>Why Debugging Is Critical in RAG</vt:lpstr>
      <vt:lpstr>What You Should Inspect</vt:lpstr>
      <vt:lpstr>Token Usage = Cost</vt:lpstr>
      <vt:lpstr>Step 3: Batch Evaluation</vt:lpstr>
      <vt:lpstr>Why We Can’t Use Exact Matching</vt:lpstr>
      <vt:lpstr>This Is the Core Difficulty of LLM Evaluation</vt:lpstr>
      <vt:lpstr>Solution: Use LLMs as Judges</vt:lpstr>
      <vt:lpstr>How LLM-Based Evaluation Works</vt:lpstr>
      <vt:lpstr>Why This Works</vt:lpstr>
      <vt:lpstr>LangChain Eval Chains</vt:lpstr>
      <vt:lpstr>Example: QA Evaluation Logic</vt:lpstr>
      <vt:lpstr>What This Gives You</vt:lpstr>
      <vt:lpstr>Why This Is Better Than Regex</vt:lpstr>
      <vt:lpstr>This Is a New Paradigm</vt:lpstr>
      <vt:lpstr>Step 4: UI-Based Evaluation</vt:lpstr>
      <vt:lpstr>Why UI Matters</vt:lpstr>
      <vt:lpstr>What You Can See in UI</vt:lpstr>
      <vt:lpstr>Dataset Flywheel</vt:lpstr>
      <vt:lpstr>Modern Name: LLMOps</vt:lpstr>
      <vt:lpstr>One-Line Exam Summary</vt:lpstr>
      <vt:lpstr>Agents in LangChain</vt:lpstr>
      <vt:lpstr>Two Ways to Think About LLMs</vt:lpstr>
      <vt:lpstr>PowerPoint Presentation</vt:lpstr>
      <vt:lpstr>What Is an Agent?  LLM + Tools + Reasoning Loop</vt:lpstr>
      <vt:lpstr>Why Agents Are Powerful</vt:lpstr>
      <vt:lpstr>Why This Matters</vt:lpstr>
      <vt:lpstr>Why Agents Are Needed</vt:lpstr>
      <vt:lpstr>How Agents Work (Core Loop)</vt:lpstr>
      <vt:lpstr>Tools in LangChain</vt:lpstr>
      <vt:lpstr>Built-In Tools</vt:lpstr>
      <vt:lpstr>Why Tool Descriptions Matter</vt:lpstr>
      <vt:lpstr>Example: 2022 World Cup</vt:lpstr>
      <vt:lpstr>Why Agents Are Experimental</vt:lpstr>
      <vt:lpstr>Example: Wikipedia Tool</vt:lpstr>
      <vt:lpstr>Key Insight</vt:lpstr>
      <vt:lpstr>Custom Tools (Most Important Part)</vt:lpstr>
      <vt:lpstr>What Is a Custom Tool?</vt:lpstr>
      <vt:lpstr>Example: Date Tool</vt:lpstr>
      <vt:lpstr>Why This Is Revolutionary</vt:lpstr>
      <vt:lpstr>Agents vs Chains</vt:lpstr>
      <vt:lpstr>When to Use Agents</vt:lpstr>
      <vt:lpstr>When NOT to Use Agents</vt:lpstr>
      <vt:lpstr>Real-World Agent Use Cases</vt:lpstr>
      <vt:lpstr>Risks of Agents</vt:lpstr>
      <vt:lpstr>Agent = LLM + Control System</vt:lpstr>
      <vt:lpstr>One-Line Exam Summary</vt:lpstr>
      <vt:lpstr>You have now covered:</vt:lpstr>
      <vt:lpstr>What Comes Next?</vt:lpstr>
      <vt:lpstr>Important Truth: LLMs do not remember</vt:lpstr>
      <vt:lpstr>Advanced Memory Types</vt:lpstr>
      <vt:lpstr>Real-World Use Cases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LangChain For LLM </dc:title>
  <dc:creator>PANKAJ SHARMA</dc:creator>
  <cp:lastModifiedBy>Microsoft account</cp:lastModifiedBy>
  <cp:revision>31</cp:revision>
  <dcterms:created xsi:type="dcterms:W3CDTF">2025-11-02T13:05:20Z</dcterms:created>
  <dcterms:modified xsi:type="dcterms:W3CDTF">2026-01-15T04:53:48Z</dcterms:modified>
</cp:coreProperties>
</file>